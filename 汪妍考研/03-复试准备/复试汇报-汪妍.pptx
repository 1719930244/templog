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nSpc>
                <a:spcPct val="150000"/>
              </a:lnSpc>
            </a:pPr>
            <a:r>
              <a:t>封面</a:t>
            </a:r>
          </a:p>
        </p:txBody>
      </p:sp>
      <p:sp>
        <p:nvSpPr>
          <p:cNvPr id="3" name="Content Placeholder 2"/>
          <p:cNvSpPr>
            <a:spLocks noGrp="1"/>
          </p:cNvSpPr>
          <p:nvPr>
            <p:ph idx="1"/>
          </p:nvPr>
        </p:nvSpPr>
        <p:spPr/>
        <p:txBody>
          <a:bodyPr/>
          <a:lstStyle/>
          <a:p>
            <a:pPr>
              <a:lnSpc>
                <a:spcPct val="150000"/>
              </a:lnSpc>
            </a:pPr>
          </a:p>
        </p:txBody>
      </p:sp>
      <p:pic>
        <p:nvPicPr>
          <p:cNvPr id="4" name="Picture 3" descr="tmpvrjahnph.png"/>
          <p:cNvPicPr>
            <a:picLocks noChangeAspect="1"/>
          </p:cNvPicPr>
          <p:nvPr/>
        </p:nvPicPr>
        <p:blipFill>
          <a:blip r:embed="rId2"/>
          <a:stretch>
            <a:fillRect/>
          </a:stretch>
        </p:blipFill>
        <p:spPr>
          <a:xfrm>
            <a:off x="0" y="0"/>
            <a:ext cx="9144000" cy="6858000"/>
          </a:xfrm>
          <a:prstGeom prst="rect">
            <a:avLst/>
          </a:prstGeom>
        </p:spPr>
      </p:pic>
      <p:sp>
        <p:nvSpPr>
          <p:cNvPr id="5" name="Rectangle 4"/>
          <p:cNvSpPr/>
          <p:nvPr/>
        </p:nvSpPr>
        <p:spPr>
          <a:xfrm>
            <a:off x="0" y="0"/>
            <a:ext cx="9144000" cy="73152"/>
          </a:xfrm>
          <a:prstGeom prst="rect">
            <a:avLst/>
          </a:prstGeom>
          <a:solidFill>
            <a:srgbClr val="48C7DC"/>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6" name="Rectangle 5"/>
          <p:cNvSpPr/>
          <p:nvPr/>
        </p:nvSpPr>
        <p:spPr>
          <a:xfrm>
            <a:off x="0" y="6784848"/>
            <a:ext cx="9144000" cy="73152"/>
          </a:xfrm>
          <a:prstGeom prst="rect">
            <a:avLst/>
          </a:prstGeom>
          <a:solidFill>
            <a:srgbClr val="48C7DC"/>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7" name="TextBox 6"/>
          <p:cNvSpPr txBox="1"/>
          <p:nvPr/>
        </p:nvSpPr>
        <p:spPr>
          <a:xfrm>
            <a:off x="731520" y="1371600"/>
            <a:ext cx="7680960" cy="2286000"/>
          </a:xfrm>
          <a:prstGeom prst="rect">
            <a:avLst/>
          </a:prstGeom>
          <a:noFill/>
        </p:spPr>
        <p:txBody>
          <a:bodyPr wrap="square">
            <a:spAutoFit/>
          </a:bodyPr>
          <a:lstStyle/>
          <a:p>
            <a:pPr algn="ctr">
              <a:lnSpc>
                <a:spcPct val="150000"/>
              </a:lnSpc>
            </a:pPr>
            <a:r>
              <a:rPr sz="3200" b="1">
                <a:solidFill>
                  <a:srgbClr val="FFFFFF"/>
                </a:solidFill>
                <a:latin typeface="Microsoft YaHei"/>
              </a:rPr>
              <a:t>基于时效性激励理论的护理干预</a:t>
            </a:r>
          </a:p>
          <a:p>
            <a:pPr algn="ctr">
              <a:lnSpc>
                <a:spcPct val="150000"/>
              </a:lnSpc>
            </a:pPr>
            <a:r>
              <a:rPr sz="3200" b="1">
                <a:solidFill>
                  <a:srgbClr val="FFFFFF"/>
                </a:solidFill>
                <a:latin typeface="Microsoft YaHei"/>
              </a:rPr>
              <a:t>在经尿道前列腺热蒸汽消融术</a:t>
            </a:r>
          </a:p>
          <a:p>
            <a:pPr algn="ctr">
              <a:lnSpc>
                <a:spcPct val="150000"/>
              </a:lnSpc>
            </a:pPr>
            <a:r>
              <a:rPr sz="3200" b="1">
                <a:solidFill>
                  <a:srgbClr val="FFFFFF"/>
                </a:solidFill>
                <a:latin typeface="Microsoft YaHei"/>
              </a:rPr>
              <a:t>患者的应用效果研究</a:t>
            </a:r>
          </a:p>
        </p:txBody>
      </p:sp>
      <p:sp>
        <p:nvSpPr>
          <p:cNvPr id="8" name="TextBox 7"/>
          <p:cNvSpPr txBox="1"/>
          <p:nvPr/>
        </p:nvSpPr>
        <p:spPr>
          <a:xfrm>
            <a:off x="1097280" y="3749039"/>
            <a:ext cx="6949440" cy="1097280"/>
          </a:xfrm>
          <a:prstGeom prst="rect">
            <a:avLst/>
          </a:prstGeom>
          <a:noFill/>
        </p:spPr>
        <p:txBody>
          <a:bodyPr wrap="square">
            <a:spAutoFit/>
          </a:bodyPr>
          <a:lstStyle/>
          <a:p>
            <a:pPr algn="ctr">
              <a:lnSpc>
                <a:spcPct val="150000"/>
              </a:lnSpc>
            </a:pPr>
            <a:r>
              <a:rPr sz="1300" i="1">
                <a:solidFill>
                  <a:srgbClr val="B4D2F0"/>
                </a:solidFill>
                <a:latin typeface="Calibri"/>
              </a:rPr>
              <a:t>A Study on the Application Effect of Nursing Intervention Based on</a:t>
            </a:r>
          </a:p>
          <a:p>
            <a:pPr algn="ctr">
              <a:lnSpc>
                <a:spcPct val="150000"/>
              </a:lnSpc>
            </a:pPr>
            <a:r>
              <a:rPr sz="1300" i="1">
                <a:solidFill>
                  <a:srgbClr val="B4D2F0"/>
                </a:solidFill>
                <a:latin typeface="Calibri"/>
              </a:rPr>
              <a:t>Timeliness Incentive Theory in Patients Undergoing</a:t>
            </a:r>
          </a:p>
          <a:p>
            <a:pPr algn="ctr">
              <a:lnSpc>
                <a:spcPct val="150000"/>
              </a:lnSpc>
            </a:pPr>
            <a:r>
              <a:rPr sz="1300" i="1">
                <a:solidFill>
                  <a:srgbClr val="B4D2F0"/>
                </a:solidFill>
                <a:latin typeface="Calibri"/>
              </a:rPr>
              <a:t>Transurethral Prostate Steam Ablation</a:t>
            </a:r>
          </a:p>
        </p:txBody>
      </p:sp>
      <p:sp>
        <p:nvSpPr>
          <p:cNvPr id="9" name="Rectangle 8"/>
          <p:cNvSpPr/>
          <p:nvPr/>
        </p:nvSpPr>
        <p:spPr>
          <a:xfrm>
            <a:off x="3200400" y="4937760"/>
            <a:ext cx="2743200" cy="27432"/>
          </a:xfrm>
          <a:prstGeom prst="rect">
            <a:avLst/>
          </a:prstGeom>
          <a:solidFill>
            <a:srgbClr val="48C7DC"/>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10" name="TextBox 9"/>
          <p:cNvSpPr txBox="1"/>
          <p:nvPr/>
        </p:nvSpPr>
        <p:spPr>
          <a:xfrm>
            <a:off x="1371600" y="5212080"/>
            <a:ext cx="6400800" cy="822960"/>
          </a:xfrm>
          <a:prstGeom prst="rect">
            <a:avLst/>
          </a:prstGeom>
          <a:noFill/>
        </p:spPr>
        <p:txBody>
          <a:bodyPr wrap="square">
            <a:spAutoFit/>
          </a:bodyPr>
          <a:lstStyle/>
          <a:p>
            <a:pPr algn="ctr">
              <a:lnSpc>
                <a:spcPct val="150000"/>
              </a:lnSpc>
            </a:pPr>
            <a:r>
              <a:rPr sz="1800">
                <a:solidFill>
                  <a:srgbClr val="C8DCF0"/>
                </a:solidFill>
                <a:latin typeface="Microsoft YaHei"/>
              </a:rPr>
              <a:t>汇报人：汪妍</a:t>
            </a:r>
          </a:p>
          <a:p>
            <a:pPr algn="ctr">
              <a:lnSpc>
                <a:spcPct val="150000"/>
              </a:lnSpc>
            </a:pPr>
            <a:r>
              <a:rPr sz="1800">
                <a:solidFill>
                  <a:srgbClr val="C8DCF0"/>
                </a:solidFill>
                <a:latin typeface="Microsoft YaHei"/>
              </a:rPr>
              <a:t>南京大学医学院附属鼓楼医院  泌尿外科</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nSpc>
                <a:spcPct val="150000"/>
              </a:lnSpc>
            </a:pPr>
            <a:r>
              <a:t>研究背景</a:t>
            </a:r>
          </a:p>
        </p:txBody>
      </p:sp>
      <p:sp>
        <p:nvSpPr>
          <p:cNvPr id="3" name="Content Placeholder 2"/>
          <p:cNvSpPr>
            <a:spLocks noGrp="1"/>
          </p:cNvSpPr>
          <p:nvPr>
            <p:ph idx="1"/>
          </p:nvPr>
        </p:nvSpPr>
        <p:spPr/>
        <p:txBody>
          <a:bodyPr/>
          <a:lstStyle/>
          <a:p>
            <a:pPr>
              <a:lnSpc>
                <a:spcPct val="150000"/>
              </a:lnSpc>
            </a:pPr>
          </a:p>
        </p:txBody>
      </p:sp>
      <p:sp>
        <p:nvSpPr>
          <p:cNvPr id="4" name="Rectangle 3"/>
          <p:cNvSpPr/>
          <p:nvPr/>
        </p:nvSpPr>
        <p:spPr>
          <a:xfrm>
            <a:off x="0" y="0"/>
            <a:ext cx="9144000" cy="914400"/>
          </a:xfrm>
          <a:prstGeom prst="rect">
            <a:avLst/>
          </a:prstGeom>
          <a:solidFill>
            <a:srgbClr val="0F3769"/>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5" name="Rectangle 4"/>
          <p:cNvSpPr/>
          <p:nvPr/>
        </p:nvSpPr>
        <p:spPr>
          <a:xfrm>
            <a:off x="0" y="914400"/>
            <a:ext cx="9144000" cy="45720"/>
          </a:xfrm>
          <a:prstGeom prst="rect">
            <a:avLst/>
          </a:prstGeom>
          <a:solidFill>
            <a:srgbClr val="48C7DC"/>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6" name="TextBox 5"/>
          <p:cNvSpPr txBox="1"/>
          <p:nvPr/>
        </p:nvSpPr>
        <p:spPr>
          <a:xfrm>
            <a:off x="457200" y="137160"/>
            <a:ext cx="8229600" cy="640080"/>
          </a:xfrm>
          <a:prstGeom prst="rect">
            <a:avLst/>
          </a:prstGeom>
          <a:noFill/>
        </p:spPr>
        <p:txBody>
          <a:bodyPr wrap="square">
            <a:spAutoFit/>
          </a:bodyPr>
          <a:lstStyle/>
          <a:p>
            <a:pPr>
              <a:lnSpc>
                <a:spcPct val="150000"/>
              </a:lnSpc>
            </a:pPr>
            <a:r>
              <a:rPr sz="2800" b="1">
                <a:solidFill>
                  <a:srgbClr val="FFFFFF"/>
                </a:solidFill>
                <a:latin typeface="Microsoft YaHei"/>
              </a:rPr>
              <a:t>研究背景</a:t>
            </a:r>
          </a:p>
        </p:txBody>
      </p:sp>
      <p:sp>
        <p:nvSpPr>
          <p:cNvPr id="7" name="Rounded Rectangle 6"/>
          <p:cNvSpPr/>
          <p:nvPr/>
        </p:nvSpPr>
        <p:spPr>
          <a:xfrm>
            <a:off x="365760" y="1280160"/>
            <a:ext cx="4023360" cy="5120640"/>
          </a:xfrm>
          <a:prstGeom prst="roundRect">
            <a:avLst/>
          </a:prstGeom>
          <a:solidFill>
            <a:srgbClr val="FFFFFF"/>
          </a:solidFill>
          <a:ln w="1270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8" name="Rounded Rectangle 7"/>
          <p:cNvSpPr/>
          <p:nvPr/>
        </p:nvSpPr>
        <p:spPr>
          <a:xfrm>
            <a:off x="4754880" y="1280160"/>
            <a:ext cx="4023360" cy="5120640"/>
          </a:xfrm>
          <a:prstGeom prst="roundRect">
            <a:avLst/>
          </a:prstGeom>
          <a:solidFill>
            <a:srgbClr val="FFFFFF"/>
          </a:solidFill>
          <a:ln w="1270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9" name="Rectangle 8"/>
          <p:cNvSpPr/>
          <p:nvPr/>
        </p:nvSpPr>
        <p:spPr>
          <a:xfrm>
            <a:off x="365760" y="1280160"/>
            <a:ext cx="4023360" cy="457200"/>
          </a:xfrm>
          <a:prstGeom prst="rect">
            <a:avLst/>
          </a:prstGeom>
          <a:solidFill>
            <a:srgbClr val="1E5096"/>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10" name="Rectangle 9"/>
          <p:cNvSpPr/>
          <p:nvPr/>
        </p:nvSpPr>
        <p:spPr>
          <a:xfrm>
            <a:off x="4754880" y="1280160"/>
            <a:ext cx="4023360" cy="457200"/>
          </a:xfrm>
          <a:prstGeom prst="rect">
            <a:avLst/>
          </a:prstGeom>
          <a:solidFill>
            <a:srgbClr val="48C7DC"/>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11" name="TextBox 10"/>
          <p:cNvSpPr txBox="1"/>
          <p:nvPr/>
        </p:nvSpPr>
        <p:spPr>
          <a:xfrm>
            <a:off x="548640" y="1298448"/>
            <a:ext cx="3657600" cy="420624"/>
          </a:xfrm>
          <a:prstGeom prst="rect">
            <a:avLst/>
          </a:prstGeom>
          <a:noFill/>
        </p:spPr>
        <p:txBody>
          <a:bodyPr wrap="square">
            <a:spAutoFit/>
          </a:bodyPr>
          <a:lstStyle/>
          <a:p>
            <a:pPr>
              <a:lnSpc>
                <a:spcPct val="150000"/>
              </a:lnSpc>
            </a:pPr>
            <a:r>
              <a:rPr sz="1800" b="1">
                <a:solidFill>
                  <a:srgbClr val="FFFFFF"/>
                </a:solidFill>
                <a:latin typeface="Microsoft YaHei"/>
              </a:rPr>
              <a:t>临床问题</a:t>
            </a:r>
          </a:p>
        </p:txBody>
      </p:sp>
      <p:sp>
        <p:nvSpPr>
          <p:cNvPr id="12" name="TextBox 11"/>
          <p:cNvSpPr txBox="1"/>
          <p:nvPr/>
        </p:nvSpPr>
        <p:spPr>
          <a:xfrm>
            <a:off x="4937760" y="1298448"/>
            <a:ext cx="3657600" cy="420624"/>
          </a:xfrm>
          <a:prstGeom prst="rect">
            <a:avLst/>
          </a:prstGeom>
          <a:noFill/>
        </p:spPr>
        <p:txBody>
          <a:bodyPr wrap="square">
            <a:spAutoFit/>
          </a:bodyPr>
          <a:lstStyle/>
          <a:p>
            <a:pPr>
              <a:lnSpc>
                <a:spcPct val="150000"/>
              </a:lnSpc>
            </a:pPr>
            <a:r>
              <a:rPr sz="1800" b="1">
                <a:solidFill>
                  <a:srgbClr val="FFFFFF"/>
                </a:solidFill>
                <a:latin typeface="Microsoft YaHei"/>
              </a:rPr>
              <a:t>理论基础</a:t>
            </a:r>
          </a:p>
        </p:txBody>
      </p:sp>
      <p:sp>
        <p:nvSpPr>
          <p:cNvPr id="13" name="TextBox 12"/>
          <p:cNvSpPr txBox="1"/>
          <p:nvPr/>
        </p:nvSpPr>
        <p:spPr>
          <a:xfrm>
            <a:off x="548640" y="1920240"/>
            <a:ext cx="3657600" cy="4297680"/>
          </a:xfrm>
          <a:prstGeom prst="rect">
            <a:avLst/>
          </a:prstGeom>
          <a:noFill/>
        </p:spPr>
        <p:txBody>
          <a:bodyPr wrap="square">
            <a:spAutoFit/>
          </a:bodyPr>
          <a:lstStyle/>
          <a:p>
            <a:pPr>
              <a:lnSpc>
                <a:spcPct val="150000"/>
              </a:lnSpc>
            </a:pPr>
            <a:r>
              <a:rPr sz="1400">
                <a:solidFill>
                  <a:srgbClr val="32323C"/>
                </a:solidFill>
                <a:latin typeface="Microsoft YaHei"/>
              </a:rPr>
              <a:t>◆ 前列腺增生（BPH）是老年男性常见疾病，严重影响生活质量</a:t>
            </a:r>
          </a:p>
          <a:p>
            <a:pPr>
              <a:lnSpc>
                <a:spcPct val="150000"/>
              </a:lnSpc>
            </a:pPr>
          </a:p>
          <a:p>
            <a:pPr>
              <a:lnSpc>
                <a:spcPct val="150000"/>
              </a:lnSpc>
            </a:pPr>
            <a:r>
              <a:rPr sz="1400">
                <a:solidFill>
                  <a:srgbClr val="32323C"/>
                </a:solidFill>
                <a:latin typeface="Microsoft YaHei"/>
              </a:rPr>
              <a:t>◆ 经尿道前列腺热蒸汽消融术（Rezum）是新型微创治疗方法</a:t>
            </a:r>
          </a:p>
          <a:p>
            <a:pPr>
              <a:lnSpc>
                <a:spcPct val="150000"/>
              </a:lnSpc>
            </a:pPr>
          </a:p>
          <a:p>
            <a:pPr>
              <a:lnSpc>
                <a:spcPct val="150000"/>
              </a:lnSpc>
            </a:pPr>
            <a:r>
              <a:rPr sz="1400">
                <a:solidFill>
                  <a:srgbClr val="32323C"/>
                </a:solidFill>
                <a:latin typeface="Microsoft YaHei"/>
              </a:rPr>
              <a:t>◆ 术后患者面临疼痛、焦虑、控尿困难等多重挑战</a:t>
            </a:r>
          </a:p>
          <a:p>
            <a:pPr>
              <a:lnSpc>
                <a:spcPct val="150000"/>
              </a:lnSpc>
            </a:pPr>
          </a:p>
          <a:p>
            <a:pPr>
              <a:lnSpc>
                <a:spcPct val="150000"/>
              </a:lnSpc>
            </a:pPr>
            <a:r>
              <a:rPr sz="1400">
                <a:solidFill>
                  <a:srgbClr val="32323C"/>
                </a:solidFill>
                <a:latin typeface="Microsoft YaHei"/>
              </a:rPr>
              <a:t>◆ 传统护理模式难以满足患者个性化需求</a:t>
            </a:r>
          </a:p>
        </p:txBody>
      </p:sp>
      <p:sp>
        <p:nvSpPr>
          <p:cNvPr id="14" name="TextBox 13"/>
          <p:cNvSpPr txBox="1"/>
          <p:nvPr/>
        </p:nvSpPr>
        <p:spPr>
          <a:xfrm>
            <a:off x="4937760" y="1920240"/>
            <a:ext cx="3657600" cy="4297680"/>
          </a:xfrm>
          <a:prstGeom prst="rect">
            <a:avLst/>
          </a:prstGeom>
          <a:noFill/>
        </p:spPr>
        <p:txBody>
          <a:bodyPr wrap="square">
            <a:spAutoFit/>
          </a:bodyPr>
          <a:lstStyle/>
          <a:p>
            <a:pPr>
              <a:lnSpc>
                <a:spcPct val="150000"/>
              </a:lnSpc>
            </a:pPr>
            <a:r>
              <a:rPr sz="1400">
                <a:solidFill>
                  <a:srgbClr val="32323C"/>
                </a:solidFill>
                <a:latin typeface="Microsoft YaHei"/>
              </a:rPr>
              <a:t>◆ 时效性激励理论：强调在关键时间节点给予针对性激励</a:t>
            </a:r>
          </a:p>
          <a:p>
            <a:pPr>
              <a:lnSpc>
                <a:spcPct val="150000"/>
              </a:lnSpc>
            </a:pPr>
          </a:p>
          <a:p>
            <a:pPr>
              <a:lnSpc>
                <a:spcPct val="150000"/>
              </a:lnSpc>
            </a:pPr>
            <a:r>
              <a:rPr sz="1400">
                <a:solidFill>
                  <a:srgbClr val="32323C"/>
                </a:solidFill>
                <a:latin typeface="Microsoft YaHei"/>
              </a:rPr>
              <a:t>◆ 四大激励维度：</a:t>
            </a:r>
          </a:p>
          <a:p>
            <a:pPr>
              <a:lnSpc>
                <a:spcPct val="150000"/>
              </a:lnSpc>
            </a:pPr>
            <a:r>
              <a:rPr sz="1400">
                <a:solidFill>
                  <a:srgbClr val="32323C"/>
                </a:solidFill>
                <a:latin typeface="Microsoft YaHei"/>
              </a:rPr>
              <a:t>    情感激励 | 需要激励</a:t>
            </a:r>
          </a:p>
          <a:p>
            <a:pPr>
              <a:lnSpc>
                <a:spcPct val="150000"/>
              </a:lnSpc>
            </a:pPr>
            <a:r>
              <a:rPr sz="1400">
                <a:solidFill>
                  <a:srgbClr val="32323C"/>
                </a:solidFill>
                <a:latin typeface="Microsoft YaHei"/>
              </a:rPr>
              <a:t>    榜样激励 | 利益激励</a:t>
            </a:r>
          </a:p>
          <a:p>
            <a:pPr>
              <a:lnSpc>
                <a:spcPct val="150000"/>
              </a:lnSpc>
            </a:pPr>
          </a:p>
          <a:p>
            <a:pPr>
              <a:lnSpc>
                <a:spcPct val="150000"/>
              </a:lnSpc>
            </a:pPr>
            <a:r>
              <a:rPr sz="1400">
                <a:solidFill>
                  <a:srgbClr val="32323C"/>
                </a:solidFill>
                <a:latin typeface="Microsoft YaHei"/>
              </a:rPr>
              <a:t>◆ 已在多个医疗领域证实有效，但在前列腺热蒸汽消融术中应用较少</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nSpc>
                <a:spcPct val="150000"/>
              </a:lnSpc>
            </a:pPr>
            <a:r>
              <a:t>研究目的与意义</a:t>
            </a:r>
          </a:p>
        </p:txBody>
      </p:sp>
      <p:sp>
        <p:nvSpPr>
          <p:cNvPr id="3" name="Content Placeholder 2"/>
          <p:cNvSpPr>
            <a:spLocks noGrp="1"/>
          </p:cNvSpPr>
          <p:nvPr>
            <p:ph idx="1"/>
          </p:nvPr>
        </p:nvSpPr>
        <p:spPr/>
        <p:txBody>
          <a:bodyPr/>
          <a:lstStyle/>
          <a:p>
            <a:pPr>
              <a:lnSpc>
                <a:spcPct val="150000"/>
              </a:lnSpc>
            </a:pPr>
          </a:p>
        </p:txBody>
      </p:sp>
      <p:sp>
        <p:nvSpPr>
          <p:cNvPr id="4" name="Rectangle 3"/>
          <p:cNvSpPr/>
          <p:nvPr/>
        </p:nvSpPr>
        <p:spPr>
          <a:xfrm>
            <a:off x="0" y="0"/>
            <a:ext cx="9144000" cy="914400"/>
          </a:xfrm>
          <a:prstGeom prst="rect">
            <a:avLst/>
          </a:prstGeom>
          <a:solidFill>
            <a:srgbClr val="0F3769"/>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5" name="Rectangle 4"/>
          <p:cNvSpPr/>
          <p:nvPr/>
        </p:nvSpPr>
        <p:spPr>
          <a:xfrm>
            <a:off x="0" y="914400"/>
            <a:ext cx="9144000" cy="45720"/>
          </a:xfrm>
          <a:prstGeom prst="rect">
            <a:avLst/>
          </a:prstGeom>
          <a:solidFill>
            <a:srgbClr val="48C7DC"/>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6" name="TextBox 5"/>
          <p:cNvSpPr txBox="1"/>
          <p:nvPr/>
        </p:nvSpPr>
        <p:spPr>
          <a:xfrm>
            <a:off x="457200" y="137160"/>
            <a:ext cx="8229600" cy="640080"/>
          </a:xfrm>
          <a:prstGeom prst="rect">
            <a:avLst/>
          </a:prstGeom>
          <a:noFill/>
        </p:spPr>
        <p:txBody>
          <a:bodyPr wrap="square">
            <a:spAutoFit/>
          </a:bodyPr>
          <a:lstStyle/>
          <a:p>
            <a:pPr>
              <a:lnSpc>
                <a:spcPct val="150000"/>
              </a:lnSpc>
            </a:pPr>
            <a:r>
              <a:rPr sz="2800" b="1">
                <a:solidFill>
                  <a:srgbClr val="FFFFFF"/>
                </a:solidFill>
                <a:latin typeface="Microsoft YaHei"/>
              </a:rPr>
              <a:t>研究目的与意义</a:t>
            </a:r>
          </a:p>
        </p:txBody>
      </p:sp>
      <p:sp>
        <p:nvSpPr>
          <p:cNvPr id="7" name="Rounded Rectangle 6"/>
          <p:cNvSpPr/>
          <p:nvPr/>
        </p:nvSpPr>
        <p:spPr>
          <a:xfrm>
            <a:off x="365760" y="1280160"/>
            <a:ext cx="8412480" cy="1645920"/>
          </a:xfrm>
          <a:prstGeom prst="roundRect">
            <a:avLst/>
          </a:prstGeom>
          <a:solidFill>
            <a:srgbClr val="1E5096"/>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8" name="TextBox 7"/>
          <p:cNvSpPr txBox="1"/>
          <p:nvPr/>
        </p:nvSpPr>
        <p:spPr>
          <a:xfrm>
            <a:off x="640080" y="1417320"/>
            <a:ext cx="1828800" cy="457200"/>
          </a:xfrm>
          <a:prstGeom prst="rect">
            <a:avLst/>
          </a:prstGeom>
          <a:noFill/>
        </p:spPr>
        <p:txBody>
          <a:bodyPr wrap="square">
            <a:spAutoFit/>
          </a:bodyPr>
          <a:lstStyle/>
          <a:p>
            <a:pPr>
              <a:lnSpc>
                <a:spcPct val="150000"/>
              </a:lnSpc>
            </a:pPr>
            <a:r>
              <a:rPr sz="2000" b="1">
                <a:solidFill>
                  <a:srgbClr val="48C7DC"/>
                </a:solidFill>
                <a:latin typeface="Microsoft YaHei"/>
              </a:rPr>
              <a:t>研究目的</a:t>
            </a:r>
          </a:p>
        </p:txBody>
      </p:sp>
      <p:sp>
        <p:nvSpPr>
          <p:cNvPr id="9" name="TextBox 8"/>
          <p:cNvSpPr txBox="1"/>
          <p:nvPr/>
        </p:nvSpPr>
        <p:spPr>
          <a:xfrm>
            <a:off x="640080" y="1920240"/>
            <a:ext cx="7863840" cy="822960"/>
          </a:xfrm>
          <a:prstGeom prst="rect">
            <a:avLst/>
          </a:prstGeom>
          <a:noFill/>
        </p:spPr>
        <p:txBody>
          <a:bodyPr wrap="square">
            <a:spAutoFit/>
          </a:bodyPr>
          <a:lstStyle/>
          <a:p>
            <a:pPr>
              <a:lnSpc>
                <a:spcPct val="150000"/>
              </a:lnSpc>
            </a:pPr>
            <a:r>
              <a:rPr sz="1600">
                <a:solidFill>
                  <a:srgbClr val="DCEBFA"/>
                </a:solidFill>
                <a:latin typeface="Microsoft YaHei"/>
              </a:rPr>
              <a:t>探讨基于时效性激励理论的护理干预对经尿道前列腺热蒸汽消融术患者的应用效果</a:t>
            </a:r>
          </a:p>
        </p:txBody>
      </p:sp>
      <p:sp>
        <p:nvSpPr>
          <p:cNvPr id="10" name="Rounded Rectangle 9"/>
          <p:cNvSpPr/>
          <p:nvPr/>
        </p:nvSpPr>
        <p:spPr>
          <a:xfrm>
            <a:off x="365760" y="3291840"/>
            <a:ext cx="3931920" cy="3108960"/>
          </a:xfrm>
          <a:prstGeom prst="roundRect">
            <a:avLst/>
          </a:prstGeom>
          <a:solidFill>
            <a:srgbClr val="FFFFFF"/>
          </a:solidFill>
          <a:ln w="1270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11" name="Rounded Rectangle 10"/>
          <p:cNvSpPr/>
          <p:nvPr/>
        </p:nvSpPr>
        <p:spPr>
          <a:xfrm>
            <a:off x="4846320" y="3291840"/>
            <a:ext cx="3931920" cy="3108960"/>
          </a:xfrm>
          <a:prstGeom prst="roundRect">
            <a:avLst/>
          </a:prstGeom>
          <a:solidFill>
            <a:srgbClr val="FFFFFF"/>
          </a:solidFill>
          <a:ln w="1270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12" name="TextBox 11"/>
          <p:cNvSpPr txBox="1"/>
          <p:nvPr/>
        </p:nvSpPr>
        <p:spPr>
          <a:xfrm>
            <a:off x="640080" y="3474720"/>
            <a:ext cx="3200400" cy="457200"/>
          </a:xfrm>
          <a:prstGeom prst="rect">
            <a:avLst/>
          </a:prstGeom>
          <a:noFill/>
        </p:spPr>
        <p:txBody>
          <a:bodyPr wrap="square">
            <a:spAutoFit/>
          </a:bodyPr>
          <a:lstStyle/>
          <a:p>
            <a:pPr>
              <a:lnSpc>
                <a:spcPct val="150000"/>
              </a:lnSpc>
            </a:pPr>
            <a:r>
              <a:rPr sz="1800" b="1">
                <a:solidFill>
                  <a:srgbClr val="1E5096"/>
                </a:solidFill>
                <a:latin typeface="Microsoft YaHei"/>
              </a:rPr>
              <a:t>理论意义</a:t>
            </a:r>
          </a:p>
        </p:txBody>
      </p:sp>
      <p:sp>
        <p:nvSpPr>
          <p:cNvPr id="13" name="TextBox 12"/>
          <p:cNvSpPr txBox="1"/>
          <p:nvPr/>
        </p:nvSpPr>
        <p:spPr>
          <a:xfrm>
            <a:off x="640080" y="4023360"/>
            <a:ext cx="3474720" cy="2011680"/>
          </a:xfrm>
          <a:prstGeom prst="rect">
            <a:avLst/>
          </a:prstGeom>
          <a:noFill/>
        </p:spPr>
        <p:txBody>
          <a:bodyPr wrap="square">
            <a:spAutoFit/>
          </a:bodyPr>
          <a:lstStyle/>
          <a:p>
            <a:pPr>
              <a:lnSpc>
                <a:spcPct val="150000"/>
              </a:lnSpc>
            </a:pPr>
            <a:r>
              <a:rPr sz="1400">
                <a:solidFill>
                  <a:srgbClr val="32323C"/>
                </a:solidFill>
                <a:latin typeface="Microsoft YaHei"/>
              </a:rPr>
              <a:t>丰富时效性激励理论在泌尿外科护理中的应用</a:t>
            </a:r>
          </a:p>
        </p:txBody>
      </p:sp>
      <p:sp>
        <p:nvSpPr>
          <p:cNvPr id="14" name="TextBox 13"/>
          <p:cNvSpPr txBox="1"/>
          <p:nvPr/>
        </p:nvSpPr>
        <p:spPr>
          <a:xfrm>
            <a:off x="5120640" y="3474720"/>
            <a:ext cx="3200400" cy="457200"/>
          </a:xfrm>
          <a:prstGeom prst="rect">
            <a:avLst/>
          </a:prstGeom>
          <a:noFill/>
        </p:spPr>
        <p:txBody>
          <a:bodyPr wrap="square">
            <a:spAutoFit/>
          </a:bodyPr>
          <a:lstStyle/>
          <a:p>
            <a:pPr>
              <a:lnSpc>
                <a:spcPct val="150000"/>
              </a:lnSpc>
            </a:pPr>
            <a:r>
              <a:rPr sz="1800" b="1">
                <a:solidFill>
                  <a:srgbClr val="48C7DC"/>
                </a:solidFill>
                <a:latin typeface="Microsoft YaHei"/>
              </a:rPr>
              <a:t>实践意义</a:t>
            </a:r>
          </a:p>
        </p:txBody>
      </p:sp>
      <p:sp>
        <p:nvSpPr>
          <p:cNvPr id="15" name="TextBox 14"/>
          <p:cNvSpPr txBox="1"/>
          <p:nvPr/>
        </p:nvSpPr>
        <p:spPr>
          <a:xfrm>
            <a:off x="5120640" y="4023360"/>
            <a:ext cx="3474720" cy="2011680"/>
          </a:xfrm>
          <a:prstGeom prst="rect">
            <a:avLst/>
          </a:prstGeom>
          <a:noFill/>
        </p:spPr>
        <p:txBody>
          <a:bodyPr wrap="square">
            <a:spAutoFit/>
          </a:bodyPr>
          <a:lstStyle/>
          <a:p>
            <a:pPr>
              <a:lnSpc>
                <a:spcPct val="150000"/>
              </a:lnSpc>
            </a:pPr>
            <a:r>
              <a:rPr sz="1400">
                <a:solidFill>
                  <a:srgbClr val="32323C"/>
                </a:solidFill>
                <a:latin typeface="Microsoft YaHei"/>
              </a:rPr>
              <a:t>◆ 改善患者术后症状和心理状态</a:t>
            </a:r>
          </a:p>
          <a:p>
            <a:pPr>
              <a:lnSpc>
                <a:spcPct val="150000"/>
              </a:lnSpc>
            </a:pPr>
          </a:p>
          <a:p>
            <a:pPr>
              <a:lnSpc>
                <a:spcPct val="150000"/>
              </a:lnSpc>
            </a:pPr>
            <a:r>
              <a:rPr sz="1400">
                <a:solidFill>
                  <a:srgbClr val="32323C"/>
                </a:solidFill>
                <a:latin typeface="Microsoft YaHei"/>
              </a:rPr>
              <a:t>◆ 提升患者治疗依从性和护理满意度</a:t>
            </a:r>
          </a:p>
          <a:p>
            <a:pPr>
              <a:lnSpc>
                <a:spcPct val="150000"/>
              </a:lnSpc>
            </a:pPr>
          </a:p>
          <a:p>
            <a:pPr>
              <a:lnSpc>
                <a:spcPct val="150000"/>
              </a:lnSpc>
            </a:pPr>
            <a:r>
              <a:rPr sz="1400">
                <a:solidFill>
                  <a:srgbClr val="32323C"/>
                </a:solidFill>
                <a:latin typeface="Microsoft YaHei"/>
              </a:rPr>
              <a:t>◆ 为临床护理提供循证依据</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nSpc>
                <a:spcPct val="150000"/>
              </a:lnSpc>
            </a:pPr>
            <a:r>
              <a:t>研究设计</a:t>
            </a:r>
          </a:p>
        </p:txBody>
      </p:sp>
      <p:sp>
        <p:nvSpPr>
          <p:cNvPr id="3" name="Content Placeholder 2"/>
          <p:cNvSpPr>
            <a:spLocks noGrp="1"/>
          </p:cNvSpPr>
          <p:nvPr>
            <p:ph idx="1"/>
          </p:nvPr>
        </p:nvSpPr>
        <p:spPr/>
        <p:txBody>
          <a:bodyPr/>
          <a:lstStyle/>
          <a:p>
            <a:pPr>
              <a:lnSpc>
                <a:spcPct val="150000"/>
              </a:lnSpc>
            </a:pPr>
          </a:p>
        </p:txBody>
      </p:sp>
      <p:sp>
        <p:nvSpPr>
          <p:cNvPr id="4" name="Rectangle 3"/>
          <p:cNvSpPr/>
          <p:nvPr/>
        </p:nvSpPr>
        <p:spPr>
          <a:xfrm>
            <a:off x="0" y="0"/>
            <a:ext cx="9144000" cy="914400"/>
          </a:xfrm>
          <a:prstGeom prst="rect">
            <a:avLst/>
          </a:prstGeom>
          <a:solidFill>
            <a:srgbClr val="0F3769"/>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5" name="Rectangle 4"/>
          <p:cNvSpPr/>
          <p:nvPr/>
        </p:nvSpPr>
        <p:spPr>
          <a:xfrm>
            <a:off x="0" y="914400"/>
            <a:ext cx="9144000" cy="45720"/>
          </a:xfrm>
          <a:prstGeom prst="rect">
            <a:avLst/>
          </a:prstGeom>
          <a:solidFill>
            <a:srgbClr val="48C7DC"/>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6" name="TextBox 5"/>
          <p:cNvSpPr txBox="1"/>
          <p:nvPr/>
        </p:nvSpPr>
        <p:spPr>
          <a:xfrm>
            <a:off x="457200" y="137160"/>
            <a:ext cx="8229600" cy="640080"/>
          </a:xfrm>
          <a:prstGeom prst="rect">
            <a:avLst/>
          </a:prstGeom>
          <a:noFill/>
        </p:spPr>
        <p:txBody>
          <a:bodyPr wrap="square">
            <a:spAutoFit/>
          </a:bodyPr>
          <a:lstStyle/>
          <a:p>
            <a:pPr>
              <a:lnSpc>
                <a:spcPct val="150000"/>
              </a:lnSpc>
            </a:pPr>
            <a:r>
              <a:rPr sz="2800" b="1">
                <a:solidFill>
                  <a:srgbClr val="FFFFFF"/>
                </a:solidFill>
                <a:latin typeface="Microsoft YaHei"/>
              </a:rPr>
              <a:t>研究设计</a:t>
            </a:r>
          </a:p>
        </p:txBody>
      </p:sp>
      <p:sp>
        <p:nvSpPr>
          <p:cNvPr id="7" name="Rounded Rectangle 6"/>
          <p:cNvSpPr/>
          <p:nvPr/>
        </p:nvSpPr>
        <p:spPr>
          <a:xfrm>
            <a:off x="274320" y="1188720"/>
            <a:ext cx="2743200" cy="5212080"/>
          </a:xfrm>
          <a:prstGeom prst="roundRect">
            <a:avLst/>
          </a:prstGeom>
          <a:solidFill>
            <a:srgbClr val="FFFFFF"/>
          </a:solidFill>
          <a:ln w="1270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8" name="Rounded Rectangle 7"/>
          <p:cNvSpPr/>
          <p:nvPr/>
        </p:nvSpPr>
        <p:spPr>
          <a:xfrm>
            <a:off x="3200400" y="1188720"/>
            <a:ext cx="2743200" cy="5212080"/>
          </a:xfrm>
          <a:prstGeom prst="roundRect">
            <a:avLst/>
          </a:prstGeom>
          <a:solidFill>
            <a:srgbClr val="FFFFFF"/>
          </a:solidFill>
          <a:ln w="1270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9" name="Rounded Rectangle 8"/>
          <p:cNvSpPr/>
          <p:nvPr/>
        </p:nvSpPr>
        <p:spPr>
          <a:xfrm>
            <a:off x="6126480" y="1188720"/>
            <a:ext cx="2743200" cy="5212080"/>
          </a:xfrm>
          <a:prstGeom prst="roundRect">
            <a:avLst/>
          </a:prstGeom>
          <a:solidFill>
            <a:srgbClr val="FFFFFF"/>
          </a:solidFill>
          <a:ln w="1270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10" name="Rectangle 9"/>
          <p:cNvSpPr/>
          <p:nvPr/>
        </p:nvSpPr>
        <p:spPr>
          <a:xfrm>
            <a:off x="274320" y="1188720"/>
            <a:ext cx="2743200" cy="457200"/>
          </a:xfrm>
          <a:prstGeom prst="rect">
            <a:avLst/>
          </a:prstGeom>
          <a:solidFill>
            <a:srgbClr val="1E5096"/>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11" name="Rectangle 10"/>
          <p:cNvSpPr/>
          <p:nvPr/>
        </p:nvSpPr>
        <p:spPr>
          <a:xfrm>
            <a:off x="3200400" y="1188720"/>
            <a:ext cx="2743200" cy="457200"/>
          </a:xfrm>
          <a:prstGeom prst="rect">
            <a:avLst/>
          </a:prstGeom>
          <a:solidFill>
            <a:srgbClr val="48C7DC"/>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12" name="Rectangle 11"/>
          <p:cNvSpPr/>
          <p:nvPr/>
        </p:nvSpPr>
        <p:spPr>
          <a:xfrm>
            <a:off x="6126480" y="1188720"/>
            <a:ext cx="2743200" cy="457200"/>
          </a:xfrm>
          <a:prstGeom prst="rect">
            <a:avLst/>
          </a:prstGeom>
          <a:solidFill>
            <a:srgbClr val="1E5096"/>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13" name="TextBox 12"/>
          <p:cNvSpPr txBox="1"/>
          <p:nvPr/>
        </p:nvSpPr>
        <p:spPr>
          <a:xfrm>
            <a:off x="457200" y="1207008"/>
            <a:ext cx="2377440" cy="420624"/>
          </a:xfrm>
          <a:prstGeom prst="rect">
            <a:avLst/>
          </a:prstGeom>
          <a:noFill/>
        </p:spPr>
        <p:txBody>
          <a:bodyPr wrap="square">
            <a:spAutoFit/>
          </a:bodyPr>
          <a:lstStyle/>
          <a:p>
            <a:pPr>
              <a:lnSpc>
                <a:spcPct val="150000"/>
              </a:lnSpc>
            </a:pPr>
            <a:r>
              <a:rPr sz="1600" b="1">
                <a:solidFill>
                  <a:srgbClr val="FFFFFF"/>
                </a:solidFill>
                <a:latin typeface="Microsoft YaHei"/>
              </a:rPr>
              <a:t>研究类型与样本</a:t>
            </a:r>
          </a:p>
        </p:txBody>
      </p:sp>
      <p:sp>
        <p:nvSpPr>
          <p:cNvPr id="14" name="TextBox 13"/>
          <p:cNvSpPr txBox="1"/>
          <p:nvPr/>
        </p:nvSpPr>
        <p:spPr>
          <a:xfrm>
            <a:off x="3383280" y="1207008"/>
            <a:ext cx="2377440" cy="420624"/>
          </a:xfrm>
          <a:prstGeom prst="rect">
            <a:avLst/>
          </a:prstGeom>
          <a:noFill/>
        </p:spPr>
        <p:txBody>
          <a:bodyPr wrap="square">
            <a:spAutoFit/>
          </a:bodyPr>
          <a:lstStyle/>
          <a:p>
            <a:pPr>
              <a:lnSpc>
                <a:spcPct val="150000"/>
              </a:lnSpc>
            </a:pPr>
            <a:r>
              <a:rPr sz="1600" b="1">
                <a:solidFill>
                  <a:srgbClr val="FFFFFF"/>
                </a:solidFill>
                <a:latin typeface="Microsoft YaHei"/>
              </a:rPr>
              <a:t>纳入标准</a:t>
            </a:r>
          </a:p>
        </p:txBody>
      </p:sp>
      <p:sp>
        <p:nvSpPr>
          <p:cNvPr id="15" name="TextBox 14"/>
          <p:cNvSpPr txBox="1"/>
          <p:nvPr/>
        </p:nvSpPr>
        <p:spPr>
          <a:xfrm>
            <a:off x="6309360" y="1207008"/>
            <a:ext cx="2377440" cy="420624"/>
          </a:xfrm>
          <a:prstGeom prst="rect">
            <a:avLst/>
          </a:prstGeom>
          <a:noFill/>
        </p:spPr>
        <p:txBody>
          <a:bodyPr wrap="square">
            <a:spAutoFit/>
          </a:bodyPr>
          <a:lstStyle/>
          <a:p>
            <a:pPr>
              <a:lnSpc>
                <a:spcPct val="150000"/>
              </a:lnSpc>
            </a:pPr>
            <a:r>
              <a:rPr sz="1600" b="1">
                <a:solidFill>
                  <a:srgbClr val="FFFFFF"/>
                </a:solidFill>
                <a:latin typeface="Microsoft YaHei"/>
              </a:rPr>
              <a:t>排除标准</a:t>
            </a:r>
          </a:p>
        </p:txBody>
      </p:sp>
      <p:sp>
        <p:nvSpPr>
          <p:cNvPr id="16" name="TextBox 15"/>
          <p:cNvSpPr txBox="1"/>
          <p:nvPr/>
        </p:nvSpPr>
        <p:spPr>
          <a:xfrm>
            <a:off x="457200" y="1828800"/>
            <a:ext cx="2377440" cy="4389120"/>
          </a:xfrm>
          <a:prstGeom prst="rect">
            <a:avLst/>
          </a:prstGeom>
          <a:noFill/>
        </p:spPr>
        <p:txBody>
          <a:bodyPr wrap="square">
            <a:spAutoFit/>
          </a:bodyPr>
          <a:lstStyle/>
          <a:p>
            <a:pPr>
              <a:lnSpc>
                <a:spcPct val="150000"/>
              </a:lnSpc>
            </a:pPr>
            <a:r>
              <a:rPr sz="1300">
                <a:solidFill>
                  <a:srgbClr val="32323C"/>
                </a:solidFill>
                <a:latin typeface="Microsoft YaHei"/>
              </a:rPr>
              <a:t>随机对照试验（RCT）</a:t>
            </a:r>
          </a:p>
          <a:p>
            <a:pPr>
              <a:lnSpc>
                <a:spcPct val="150000"/>
              </a:lnSpc>
            </a:pPr>
          </a:p>
          <a:p>
            <a:pPr>
              <a:lnSpc>
                <a:spcPct val="150000"/>
              </a:lnSpc>
            </a:pPr>
            <a:r>
              <a:rPr sz="1300">
                <a:solidFill>
                  <a:srgbClr val="32323C"/>
                </a:solidFill>
                <a:latin typeface="Microsoft YaHei"/>
              </a:rPr>
              <a:t>总样本：100 例</a:t>
            </a:r>
          </a:p>
          <a:p>
            <a:pPr>
              <a:lnSpc>
                <a:spcPct val="150000"/>
              </a:lnSpc>
            </a:pPr>
          </a:p>
          <a:p>
            <a:pPr>
              <a:lnSpc>
                <a:spcPct val="150000"/>
              </a:lnSpc>
            </a:pPr>
            <a:r>
              <a:rPr sz="1300">
                <a:solidFill>
                  <a:srgbClr val="32323C"/>
                </a:solidFill>
                <a:latin typeface="Microsoft YaHei"/>
              </a:rPr>
              <a:t>观察组：50 例</a:t>
            </a:r>
          </a:p>
          <a:p>
            <a:pPr>
              <a:lnSpc>
                <a:spcPct val="150000"/>
              </a:lnSpc>
            </a:pPr>
            <a:r>
              <a:rPr sz="1300">
                <a:solidFill>
                  <a:srgbClr val="32323C"/>
                </a:solidFill>
                <a:latin typeface="Microsoft YaHei"/>
              </a:rPr>
              <a:t>（常规护理 + 时效性激励护理）</a:t>
            </a:r>
          </a:p>
          <a:p>
            <a:pPr>
              <a:lnSpc>
                <a:spcPct val="150000"/>
              </a:lnSpc>
            </a:pPr>
          </a:p>
          <a:p>
            <a:pPr>
              <a:lnSpc>
                <a:spcPct val="150000"/>
              </a:lnSpc>
            </a:pPr>
            <a:r>
              <a:rPr sz="1300">
                <a:solidFill>
                  <a:srgbClr val="32323C"/>
                </a:solidFill>
                <a:latin typeface="Microsoft YaHei"/>
              </a:rPr>
              <a:t>对照组：50 例</a:t>
            </a:r>
          </a:p>
          <a:p>
            <a:pPr>
              <a:lnSpc>
                <a:spcPct val="150000"/>
              </a:lnSpc>
            </a:pPr>
            <a:r>
              <a:rPr sz="1300">
                <a:solidFill>
                  <a:srgbClr val="32323C"/>
                </a:solidFill>
                <a:latin typeface="Microsoft YaHei"/>
              </a:rPr>
              <a:t>（常规护理）</a:t>
            </a:r>
          </a:p>
        </p:txBody>
      </p:sp>
      <p:sp>
        <p:nvSpPr>
          <p:cNvPr id="17" name="TextBox 16"/>
          <p:cNvSpPr txBox="1"/>
          <p:nvPr/>
        </p:nvSpPr>
        <p:spPr>
          <a:xfrm>
            <a:off x="3383280" y="1828800"/>
            <a:ext cx="2377440" cy="4389120"/>
          </a:xfrm>
          <a:prstGeom prst="rect">
            <a:avLst/>
          </a:prstGeom>
          <a:noFill/>
        </p:spPr>
        <p:txBody>
          <a:bodyPr wrap="square">
            <a:spAutoFit/>
          </a:bodyPr>
          <a:lstStyle/>
          <a:p>
            <a:pPr>
              <a:lnSpc>
                <a:spcPct val="150000"/>
              </a:lnSpc>
            </a:pPr>
            <a:r>
              <a:rPr sz="1300">
                <a:solidFill>
                  <a:srgbClr val="32323C"/>
                </a:solidFill>
                <a:latin typeface="Microsoft YaHei"/>
              </a:rPr>
              <a:t>◆ 确诊为前列腺增生并接受 Rezum 手术</a:t>
            </a:r>
          </a:p>
          <a:p>
            <a:pPr>
              <a:lnSpc>
                <a:spcPct val="150000"/>
              </a:lnSpc>
            </a:pPr>
          </a:p>
          <a:p>
            <a:pPr>
              <a:lnSpc>
                <a:spcPct val="150000"/>
              </a:lnSpc>
            </a:pPr>
            <a:r>
              <a:rPr sz="1300">
                <a:solidFill>
                  <a:srgbClr val="32323C"/>
                </a:solidFill>
                <a:latin typeface="Microsoft YaHei"/>
              </a:rPr>
              <a:t>◆ 年龄 50-80 岁</a:t>
            </a:r>
          </a:p>
          <a:p>
            <a:pPr>
              <a:lnSpc>
                <a:spcPct val="150000"/>
              </a:lnSpc>
            </a:pPr>
          </a:p>
          <a:p>
            <a:pPr>
              <a:lnSpc>
                <a:spcPct val="150000"/>
              </a:lnSpc>
            </a:pPr>
            <a:r>
              <a:rPr sz="1300">
                <a:solidFill>
                  <a:srgbClr val="32323C"/>
                </a:solidFill>
                <a:latin typeface="Microsoft YaHei"/>
              </a:rPr>
              <a:t>◆ 意识清楚，能配合研究</a:t>
            </a:r>
          </a:p>
          <a:p>
            <a:pPr>
              <a:lnSpc>
                <a:spcPct val="150000"/>
              </a:lnSpc>
            </a:pPr>
          </a:p>
          <a:p>
            <a:pPr>
              <a:lnSpc>
                <a:spcPct val="150000"/>
              </a:lnSpc>
            </a:pPr>
            <a:r>
              <a:rPr sz="1300">
                <a:solidFill>
                  <a:srgbClr val="32323C"/>
                </a:solidFill>
                <a:latin typeface="Microsoft YaHei"/>
              </a:rPr>
              <a:t>◆ 知情同意</a:t>
            </a:r>
          </a:p>
        </p:txBody>
      </p:sp>
      <p:sp>
        <p:nvSpPr>
          <p:cNvPr id="18" name="TextBox 17"/>
          <p:cNvSpPr txBox="1"/>
          <p:nvPr/>
        </p:nvSpPr>
        <p:spPr>
          <a:xfrm>
            <a:off x="6309360" y="1828800"/>
            <a:ext cx="2377440" cy="4389120"/>
          </a:xfrm>
          <a:prstGeom prst="rect">
            <a:avLst/>
          </a:prstGeom>
          <a:noFill/>
        </p:spPr>
        <p:txBody>
          <a:bodyPr wrap="square">
            <a:spAutoFit/>
          </a:bodyPr>
          <a:lstStyle/>
          <a:p>
            <a:pPr>
              <a:lnSpc>
                <a:spcPct val="150000"/>
              </a:lnSpc>
            </a:pPr>
            <a:r>
              <a:rPr sz="1300">
                <a:solidFill>
                  <a:srgbClr val="32323C"/>
                </a:solidFill>
                <a:latin typeface="Microsoft YaHei"/>
              </a:rPr>
              <a:t>◆ 合并严重心肺疾病</a:t>
            </a:r>
          </a:p>
          <a:p>
            <a:pPr>
              <a:lnSpc>
                <a:spcPct val="150000"/>
              </a:lnSpc>
            </a:pPr>
          </a:p>
          <a:p>
            <a:pPr>
              <a:lnSpc>
                <a:spcPct val="150000"/>
              </a:lnSpc>
            </a:pPr>
            <a:r>
              <a:rPr sz="1300">
                <a:solidFill>
                  <a:srgbClr val="32323C"/>
                </a:solidFill>
                <a:latin typeface="Microsoft YaHei"/>
              </a:rPr>
              <a:t>◆ 精神疾病或认知障碍</a:t>
            </a:r>
          </a:p>
          <a:p>
            <a:pPr>
              <a:lnSpc>
                <a:spcPct val="150000"/>
              </a:lnSpc>
            </a:pPr>
          </a:p>
          <a:p>
            <a:pPr>
              <a:lnSpc>
                <a:spcPct val="150000"/>
              </a:lnSpc>
            </a:pPr>
            <a:r>
              <a:rPr sz="1300">
                <a:solidFill>
                  <a:srgbClr val="32323C"/>
                </a:solidFill>
                <a:latin typeface="Microsoft YaHei"/>
              </a:rPr>
              <a:t>◆ 既往前列腺手术史</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nSpc>
                <a:spcPct val="150000"/>
              </a:lnSpc>
            </a:pPr>
            <a:r>
              <a:t>干预方案</a:t>
            </a:r>
          </a:p>
        </p:txBody>
      </p:sp>
      <p:sp>
        <p:nvSpPr>
          <p:cNvPr id="3" name="Content Placeholder 2"/>
          <p:cNvSpPr>
            <a:spLocks noGrp="1"/>
          </p:cNvSpPr>
          <p:nvPr>
            <p:ph idx="1"/>
          </p:nvPr>
        </p:nvSpPr>
        <p:spPr/>
        <p:txBody>
          <a:bodyPr/>
          <a:lstStyle/>
          <a:p>
            <a:pPr>
              <a:lnSpc>
                <a:spcPct val="150000"/>
              </a:lnSpc>
            </a:pPr>
          </a:p>
        </p:txBody>
      </p:sp>
      <p:sp>
        <p:nvSpPr>
          <p:cNvPr id="4" name="Rectangle 3"/>
          <p:cNvSpPr/>
          <p:nvPr/>
        </p:nvSpPr>
        <p:spPr>
          <a:xfrm>
            <a:off x="0" y="0"/>
            <a:ext cx="9144000" cy="914400"/>
          </a:xfrm>
          <a:prstGeom prst="rect">
            <a:avLst/>
          </a:prstGeom>
          <a:solidFill>
            <a:srgbClr val="0F3769"/>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5" name="Rectangle 4"/>
          <p:cNvSpPr/>
          <p:nvPr/>
        </p:nvSpPr>
        <p:spPr>
          <a:xfrm>
            <a:off x="0" y="914400"/>
            <a:ext cx="9144000" cy="45720"/>
          </a:xfrm>
          <a:prstGeom prst="rect">
            <a:avLst/>
          </a:prstGeom>
          <a:solidFill>
            <a:srgbClr val="48C7DC"/>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6" name="TextBox 5"/>
          <p:cNvSpPr txBox="1"/>
          <p:nvPr/>
        </p:nvSpPr>
        <p:spPr>
          <a:xfrm>
            <a:off x="457200" y="137160"/>
            <a:ext cx="8229600" cy="640080"/>
          </a:xfrm>
          <a:prstGeom prst="rect">
            <a:avLst/>
          </a:prstGeom>
          <a:noFill/>
        </p:spPr>
        <p:txBody>
          <a:bodyPr wrap="square">
            <a:spAutoFit/>
          </a:bodyPr>
          <a:lstStyle/>
          <a:p>
            <a:pPr>
              <a:lnSpc>
                <a:spcPct val="150000"/>
              </a:lnSpc>
            </a:pPr>
            <a:r>
              <a:rPr sz="2800" b="1">
                <a:solidFill>
                  <a:srgbClr val="FFFFFF"/>
                </a:solidFill>
                <a:latin typeface="Microsoft YaHei"/>
              </a:rPr>
              <a:t>干预方案：时效性激励护理模式</a:t>
            </a:r>
          </a:p>
        </p:txBody>
      </p:sp>
      <p:sp>
        <p:nvSpPr>
          <p:cNvPr id="7" name="Rounded Rectangle 6"/>
          <p:cNvSpPr/>
          <p:nvPr/>
        </p:nvSpPr>
        <p:spPr>
          <a:xfrm>
            <a:off x="182880" y="1188720"/>
            <a:ext cx="4297680" cy="2286000"/>
          </a:xfrm>
          <a:prstGeom prst="roundRect">
            <a:avLst/>
          </a:prstGeom>
          <a:solidFill>
            <a:srgbClr val="1E5096"/>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8" name="Rounded Rectangle 7"/>
          <p:cNvSpPr/>
          <p:nvPr/>
        </p:nvSpPr>
        <p:spPr>
          <a:xfrm>
            <a:off x="4663440" y="1188720"/>
            <a:ext cx="4297680" cy="2286000"/>
          </a:xfrm>
          <a:prstGeom prst="roundRect">
            <a:avLst/>
          </a:prstGeom>
          <a:solidFill>
            <a:srgbClr val="2AA0BE"/>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9" name="Rounded Rectangle 8"/>
          <p:cNvSpPr/>
          <p:nvPr/>
        </p:nvSpPr>
        <p:spPr>
          <a:xfrm>
            <a:off x="182880" y="3749039"/>
            <a:ext cx="4297680" cy="2286000"/>
          </a:xfrm>
          <a:prstGeom prst="roundRect">
            <a:avLst/>
          </a:prstGeom>
          <a:solidFill>
            <a:srgbClr val="2AA0BE"/>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10" name="Rounded Rectangle 9"/>
          <p:cNvSpPr/>
          <p:nvPr/>
        </p:nvSpPr>
        <p:spPr>
          <a:xfrm>
            <a:off x="4663440" y="3749039"/>
            <a:ext cx="4297680" cy="2286000"/>
          </a:xfrm>
          <a:prstGeom prst="roundRect">
            <a:avLst/>
          </a:prstGeom>
          <a:solidFill>
            <a:srgbClr val="1E5096"/>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11" name="TextBox 10"/>
          <p:cNvSpPr txBox="1"/>
          <p:nvPr/>
        </p:nvSpPr>
        <p:spPr>
          <a:xfrm>
            <a:off x="457200" y="1325880"/>
            <a:ext cx="3749039" cy="457200"/>
          </a:xfrm>
          <a:prstGeom prst="rect">
            <a:avLst/>
          </a:prstGeom>
          <a:noFill/>
        </p:spPr>
        <p:txBody>
          <a:bodyPr wrap="square">
            <a:spAutoFit/>
          </a:bodyPr>
          <a:lstStyle/>
          <a:p>
            <a:pPr>
              <a:lnSpc>
                <a:spcPct val="150000"/>
              </a:lnSpc>
            </a:pPr>
            <a:r>
              <a:rPr sz="2000" b="1">
                <a:solidFill>
                  <a:srgbClr val="48C7DC"/>
                </a:solidFill>
                <a:latin typeface="Microsoft YaHei"/>
              </a:rPr>
              <a:t>① 情感激励</a:t>
            </a:r>
          </a:p>
        </p:txBody>
      </p:sp>
      <p:sp>
        <p:nvSpPr>
          <p:cNvPr id="12" name="TextBox 11"/>
          <p:cNvSpPr txBox="1"/>
          <p:nvPr/>
        </p:nvSpPr>
        <p:spPr>
          <a:xfrm>
            <a:off x="457200" y="1920240"/>
            <a:ext cx="3749039" cy="1371600"/>
          </a:xfrm>
          <a:prstGeom prst="rect">
            <a:avLst/>
          </a:prstGeom>
          <a:noFill/>
        </p:spPr>
        <p:txBody>
          <a:bodyPr wrap="square">
            <a:spAutoFit/>
          </a:bodyPr>
          <a:lstStyle/>
          <a:p>
            <a:pPr>
              <a:lnSpc>
                <a:spcPct val="150000"/>
              </a:lnSpc>
            </a:pPr>
            <a:r>
              <a:rPr sz="1300">
                <a:solidFill>
                  <a:srgbClr val="DCEBFA"/>
                </a:solidFill>
                <a:latin typeface="Microsoft YaHei"/>
              </a:rPr>
              <a:t>术前：建立信任关系，缓解焦虑</a:t>
            </a:r>
          </a:p>
          <a:p>
            <a:pPr>
              <a:lnSpc>
                <a:spcPct val="150000"/>
              </a:lnSpc>
            </a:pPr>
            <a:r>
              <a:rPr sz="1300">
                <a:solidFill>
                  <a:srgbClr val="DCEBFA"/>
                </a:solidFill>
                <a:latin typeface="Microsoft YaHei"/>
              </a:rPr>
              <a:t>术后：及时关注情绪变化，提供心理支持</a:t>
            </a:r>
          </a:p>
        </p:txBody>
      </p:sp>
      <p:sp>
        <p:nvSpPr>
          <p:cNvPr id="13" name="TextBox 12"/>
          <p:cNvSpPr txBox="1"/>
          <p:nvPr/>
        </p:nvSpPr>
        <p:spPr>
          <a:xfrm>
            <a:off x="4937760" y="1325880"/>
            <a:ext cx="3749039" cy="457200"/>
          </a:xfrm>
          <a:prstGeom prst="rect">
            <a:avLst/>
          </a:prstGeom>
          <a:noFill/>
        </p:spPr>
        <p:txBody>
          <a:bodyPr wrap="square">
            <a:spAutoFit/>
          </a:bodyPr>
          <a:lstStyle/>
          <a:p>
            <a:pPr>
              <a:lnSpc>
                <a:spcPct val="150000"/>
              </a:lnSpc>
            </a:pPr>
            <a:r>
              <a:rPr sz="2000" b="1">
                <a:solidFill>
                  <a:srgbClr val="FFFFFF"/>
                </a:solidFill>
                <a:latin typeface="Microsoft YaHei"/>
              </a:rPr>
              <a:t>② 需要激励</a:t>
            </a:r>
          </a:p>
        </p:txBody>
      </p:sp>
      <p:sp>
        <p:nvSpPr>
          <p:cNvPr id="14" name="TextBox 13"/>
          <p:cNvSpPr txBox="1"/>
          <p:nvPr/>
        </p:nvSpPr>
        <p:spPr>
          <a:xfrm>
            <a:off x="4937760" y="1920240"/>
            <a:ext cx="3749039" cy="1371600"/>
          </a:xfrm>
          <a:prstGeom prst="rect">
            <a:avLst/>
          </a:prstGeom>
          <a:noFill/>
        </p:spPr>
        <p:txBody>
          <a:bodyPr wrap="square">
            <a:spAutoFit/>
          </a:bodyPr>
          <a:lstStyle/>
          <a:p>
            <a:pPr>
              <a:lnSpc>
                <a:spcPct val="150000"/>
              </a:lnSpc>
            </a:pPr>
            <a:r>
              <a:rPr sz="1300">
                <a:solidFill>
                  <a:srgbClr val="DCEBFA"/>
                </a:solidFill>
                <a:latin typeface="Microsoft YaHei"/>
              </a:rPr>
              <a:t>评估患者个性化需求</a:t>
            </a:r>
          </a:p>
          <a:p>
            <a:pPr>
              <a:lnSpc>
                <a:spcPct val="150000"/>
              </a:lnSpc>
            </a:pPr>
            <a:r>
              <a:rPr sz="1300">
                <a:solidFill>
                  <a:srgbClr val="DCEBFA"/>
                </a:solidFill>
                <a:latin typeface="Microsoft YaHei"/>
              </a:rPr>
              <a:t>针对性解决疼痛、排尿等问题</a:t>
            </a:r>
          </a:p>
        </p:txBody>
      </p:sp>
      <p:sp>
        <p:nvSpPr>
          <p:cNvPr id="15" name="TextBox 14"/>
          <p:cNvSpPr txBox="1"/>
          <p:nvPr/>
        </p:nvSpPr>
        <p:spPr>
          <a:xfrm>
            <a:off x="457200" y="3886200"/>
            <a:ext cx="3749039" cy="457200"/>
          </a:xfrm>
          <a:prstGeom prst="rect">
            <a:avLst/>
          </a:prstGeom>
          <a:noFill/>
        </p:spPr>
        <p:txBody>
          <a:bodyPr wrap="square">
            <a:spAutoFit/>
          </a:bodyPr>
          <a:lstStyle/>
          <a:p>
            <a:pPr>
              <a:lnSpc>
                <a:spcPct val="150000"/>
              </a:lnSpc>
            </a:pPr>
            <a:r>
              <a:rPr sz="2000" b="1">
                <a:solidFill>
                  <a:srgbClr val="FFFFFF"/>
                </a:solidFill>
                <a:latin typeface="Microsoft YaHei"/>
              </a:rPr>
              <a:t>③ 榜样激励</a:t>
            </a:r>
          </a:p>
        </p:txBody>
      </p:sp>
      <p:sp>
        <p:nvSpPr>
          <p:cNvPr id="16" name="TextBox 15"/>
          <p:cNvSpPr txBox="1"/>
          <p:nvPr/>
        </p:nvSpPr>
        <p:spPr>
          <a:xfrm>
            <a:off x="457200" y="4480560"/>
            <a:ext cx="3749039" cy="1371600"/>
          </a:xfrm>
          <a:prstGeom prst="rect">
            <a:avLst/>
          </a:prstGeom>
          <a:noFill/>
        </p:spPr>
        <p:txBody>
          <a:bodyPr wrap="square">
            <a:spAutoFit/>
          </a:bodyPr>
          <a:lstStyle/>
          <a:p>
            <a:pPr>
              <a:lnSpc>
                <a:spcPct val="150000"/>
              </a:lnSpc>
            </a:pPr>
            <a:r>
              <a:rPr sz="1300">
                <a:solidFill>
                  <a:srgbClr val="DCEBFA"/>
                </a:solidFill>
                <a:latin typeface="Microsoft YaHei"/>
              </a:rPr>
              <a:t>邀请康复良好的患者分享经验</a:t>
            </a:r>
          </a:p>
          <a:p>
            <a:pPr>
              <a:lnSpc>
                <a:spcPct val="150000"/>
              </a:lnSpc>
            </a:pPr>
            <a:r>
              <a:rPr sz="1300">
                <a:solidFill>
                  <a:srgbClr val="DCEBFA"/>
                </a:solidFill>
                <a:latin typeface="Microsoft YaHei"/>
              </a:rPr>
              <a:t>展示成功案例，增强治疗信心</a:t>
            </a:r>
          </a:p>
        </p:txBody>
      </p:sp>
      <p:sp>
        <p:nvSpPr>
          <p:cNvPr id="17" name="TextBox 16"/>
          <p:cNvSpPr txBox="1"/>
          <p:nvPr/>
        </p:nvSpPr>
        <p:spPr>
          <a:xfrm>
            <a:off x="4937760" y="3886200"/>
            <a:ext cx="3749039" cy="457200"/>
          </a:xfrm>
          <a:prstGeom prst="rect">
            <a:avLst/>
          </a:prstGeom>
          <a:noFill/>
        </p:spPr>
        <p:txBody>
          <a:bodyPr wrap="square">
            <a:spAutoFit/>
          </a:bodyPr>
          <a:lstStyle/>
          <a:p>
            <a:pPr>
              <a:lnSpc>
                <a:spcPct val="150000"/>
              </a:lnSpc>
            </a:pPr>
            <a:r>
              <a:rPr sz="2000" b="1">
                <a:solidFill>
                  <a:srgbClr val="48C7DC"/>
                </a:solidFill>
                <a:latin typeface="Microsoft YaHei"/>
              </a:rPr>
              <a:t>④ 利益激励</a:t>
            </a:r>
          </a:p>
        </p:txBody>
      </p:sp>
      <p:sp>
        <p:nvSpPr>
          <p:cNvPr id="18" name="TextBox 17"/>
          <p:cNvSpPr txBox="1"/>
          <p:nvPr/>
        </p:nvSpPr>
        <p:spPr>
          <a:xfrm>
            <a:off x="4937760" y="4480560"/>
            <a:ext cx="3749039" cy="1371600"/>
          </a:xfrm>
          <a:prstGeom prst="rect">
            <a:avLst/>
          </a:prstGeom>
          <a:noFill/>
        </p:spPr>
        <p:txBody>
          <a:bodyPr wrap="square">
            <a:spAutoFit/>
          </a:bodyPr>
          <a:lstStyle/>
          <a:p>
            <a:pPr>
              <a:lnSpc>
                <a:spcPct val="150000"/>
              </a:lnSpc>
            </a:pPr>
            <a:r>
              <a:rPr sz="1300">
                <a:solidFill>
                  <a:srgbClr val="DCEBFA"/>
                </a:solidFill>
                <a:latin typeface="Microsoft YaHei"/>
              </a:rPr>
              <a:t>设定阶段性康复目标</a:t>
            </a:r>
          </a:p>
          <a:p>
            <a:pPr>
              <a:lnSpc>
                <a:spcPct val="150000"/>
              </a:lnSpc>
            </a:pPr>
            <a:r>
              <a:rPr sz="1300">
                <a:solidFill>
                  <a:srgbClr val="DCEBFA"/>
                </a:solidFill>
                <a:latin typeface="Microsoft YaHei"/>
              </a:rPr>
              <a:t>达成目标给予正向反馈，促进主动康复</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nSpc>
                <a:spcPct val="150000"/>
              </a:lnSpc>
            </a:pPr>
            <a:r>
              <a:t>评价指标</a:t>
            </a:r>
          </a:p>
        </p:txBody>
      </p:sp>
      <p:sp>
        <p:nvSpPr>
          <p:cNvPr id="3" name="Content Placeholder 2"/>
          <p:cNvSpPr>
            <a:spLocks noGrp="1"/>
          </p:cNvSpPr>
          <p:nvPr>
            <p:ph idx="1"/>
          </p:nvPr>
        </p:nvSpPr>
        <p:spPr/>
        <p:txBody>
          <a:bodyPr/>
          <a:lstStyle/>
          <a:p>
            <a:pPr>
              <a:lnSpc>
                <a:spcPct val="150000"/>
              </a:lnSpc>
            </a:pPr>
          </a:p>
        </p:txBody>
      </p:sp>
      <p:sp>
        <p:nvSpPr>
          <p:cNvPr id="4" name="Rectangle 3"/>
          <p:cNvSpPr/>
          <p:nvPr/>
        </p:nvSpPr>
        <p:spPr>
          <a:xfrm>
            <a:off x="0" y="0"/>
            <a:ext cx="9144000" cy="914400"/>
          </a:xfrm>
          <a:prstGeom prst="rect">
            <a:avLst/>
          </a:prstGeom>
          <a:solidFill>
            <a:srgbClr val="0F3769"/>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5" name="Rectangle 4"/>
          <p:cNvSpPr/>
          <p:nvPr/>
        </p:nvSpPr>
        <p:spPr>
          <a:xfrm>
            <a:off x="0" y="914400"/>
            <a:ext cx="9144000" cy="45720"/>
          </a:xfrm>
          <a:prstGeom prst="rect">
            <a:avLst/>
          </a:prstGeom>
          <a:solidFill>
            <a:srgbClr val="48C7DC"/>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6" name="TextBox 5"/>
          <p:cNvSpPr txBox="1"/>
          <p:nvPr/>
        </p:nvSpPr>
        <p:spPr>
          <a:xfrm>
            <a:off x="457200" y="137160"/>
            <a:ext cx="8229600" cy="640080"/>
          </a:xfrm>
          <a:prstGeom prst="rect">
            <a:avLst/>
          </a:prstGeom>
          <a:noFill/>
        </p:spPr>
        <p:txBody>
          <a:bodyPr wrap="square">
            <a:spAutoFit/>
          </a:bodyPr>
          <a:lstStyle/>
          <a:p>
            <a:pPr>
              <a:lnSpc>
                <a:spcPct val="150000"/>
              </a:lnSpc>
            </a:pPr>
            <a:r>
              <a:rPr sz="2800" b="1">
                <a:solidFill>
                  <a:srgbClr val="FFFFFF"/>
                </a:solidFill>
                <a:latin typeface="Microsoft YaHei"/>
              </a:rPr>
              <a:t>评价指标</a:t>
            </a:r>
          </a:p>
        </p:txBody>
      </p:sp>
      <p:sp>
        <p:nvSpPr>
          <p:cNvPr id="7" name="Rounded Rectangle 6"/>
          <p:cNvSpPr/>
          <p:nvPr/>
        </p:nvSpPr>
        <p:spPr>
          <a:xfrm>
            <a:off x="274320" y="1188720"/>
            <a:ext cx="5577840" cy="5212080"/>
          </a:xfrm>
          <a:prstGeom prst="roundRect">
            <a:avLst/>
          </a:prstGeom>
          <a:solidFill>
            <a:srgbClr val="FFFFFF"/>
          </a:solidFill>
          <a:ln w="1270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8" name="Rounded Rectangle 7"/>
          <p:cNvSpPr/>
          <p:nvPr/>
        </p:nvSpPr>
        <p:spPr>
          <a:xfrm>
            <a:off x="6035040" y="1188720"/>
            <a:ext cx="2834640" cy="5212080"/>
          </a:xfrm>
          <a:prstGeom prst="roundRect">
            <a:avLst/>
          </a:prstGeom>
          <a:solidFill>
            <a:srgbClr val="1E5096"/>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9" name="TextBox 8"/>
          <p:cNvSpPr txBox="1"/>
          <p:nvPr/>
        </p:nvSpPr>
        <p:spPr>
          <a:xfrm>
            <a:off x="457200" y="1371600"/>
            <a:ext cx="5029200" cy="457200"/>
          </a:xfrm>
          <a:prstGeom prst="rect">
            <a:avLst/>
          </a:prstGeom>
          <a:noFill/>
        </p:spPr>
        <p:txBody>
          <a:bodyPr wrap="square">
            <a:spAutoFit/>
          </a:bodyPr>
          <a:lstStyle/>
          <a:p>
            <a:pPr>
              <a:lnSpc>
                <a:spcPct val="150000"/>
              </a:lnSpc>
            </a:pPr>
            <a:r>
              <a:rPr sz="2000" b="1">
                <a:solidFill>
                  <a:srgbClr val="1E5096"/>
                </a:solidFill>
                <a:latin typeface="Microsoft YaHei"/>
              </a:rPr>
              <a:t>主要结局指标</a:t>
            </a:r>
          </a:p>
        </p:txBody>
      </p:sp>
      <p:sp>
        <p:nvSpPr>
          <p:cNvPr id="10" name="TextBox 9"/>
          <p:cNvSpPr txBox="1"/>
          <p:nvPr/>
        </p:nvSpPr>
        <p:spPr>
          <a:xfrm>
            <a:off x="457200" y="2011680"/>
            <a:ext cx="5212080" cy="4206240"/>
          </a:xfrm>
          <a:prstGeom prst="rect">
            <a:avLst/>
          </a:prstGeom>
          <a:noFill/>
        </p:spPr>
        <p:txBody>
          <a:bodyPr wrap="square">
            <a:spAutoFit/>
          </a:bodyPr>
          <a:lstStyle/>
          <a:p>
            <a:pPr>
              <a:lnSpc>
                <a:spcPct val="150000"/>
              </a:lnSpc>
            </a:pPr>
            <a:r>
              <a:rPr sz="1300">
                <a:solidFill>
                  <a:srgbClr val="32323C"/>
                </a:solidFill>
                <a:latin typeface="Microsoft YaHei"/>
              </a:rPr>
              <a:t>① 前列腺症状评分（IPSS）</a:t>
            </a:r>
          </a:p>
          <a:p>
            <a:pPr>
              <a:lnSpc>
                <a:spcPct val="150000"/>
              </a:lnSpc>
            </a:pPr>
            <a:r>
              <a:rPr sz="1300">
                <a:solidFill>
                  <a:srgbClr val="32323C"/>
                </a:solidFill>
                <a:latin typeface="Microsoft YaHei"/>
              </a:rPr>
              <a:t>    评分范围：0-35 分，分数越高症状越重</a:t>
            </a:r>
          </a:p>
          <a:p>
            <a:pPr>
              <a:lnSpc>
                <a:spcPct val="150000"/>
              </a:lnSpc>
            </a:pPr>
            <a:r>
              <a:rPr sz="1300">
                <a:solidFill>
                  <a:srgbClr val="32323C"/>
                </a:solidFill>
                <a:latin typeface="Microsoft YaHei"/>
              </a:rPr>
              <a:t>    评估时间：术前、术后 1 个月</a:t>
            </a:r>
          </a:p>
          <a:p>
            <a:pPr>
              <a:lnSpc>
                <a:spcPct val="150000"/>
              </a:lnSpc>
            </a:pPr>
          </a:p>
          <a:p>
            <a:pPr>
              <a:lnSpc>
                <a:spcPct val="150000"/>
              </a:lnSpc>
            </a:pPr>
            <a:r>
              <a:rPr sz="1300">
                <a:solidFill>
                  <a:srgbClr val="32323C"/>
                </a:solidFill>
                <a:latin typeface="Microsoft YaHei"/>
              </a:rPr>
              <a:t>② 焦虑抑郁评分</a:t>
            </a:r>
          </a:p>
          <a:p>
            <a:pPr>
              <a:lnSpc>
                <a:spcPct val="150000"/>
              </a:lnSpc>
            </a:pPr>
            <a:r>
              <a:rPr sz="1300">
                <a:solidFill>
                  <a:srgbClr val="32323C"/>
                </a:solidFill>
                <a:latin typeface="Microsoft YaHei"/>
              </a:rPr>
              <a:t>    SAS（焦虑自评量表）：≥50 分为焦虑</a:t>
            </a:r>
          </a:p>
          <a:p>
            <a:pPr>
              <a:lnSpc>
                <a:spcPct val="150000"/>
              </a:lnSpc>
            </a:pPr>
            <a:r>
              <a:rPr sz="1300">
                <a:solidFill>
                  <a:srgbClr val="32323C"/>
                </a:solidFill>
                <a:latin typeface="Microsoft YaHei"/>
              </a:rPr>
              <a:t>    SDS（抑郁自评量表）：≥53 分为抑郁</a:t>
            </a:r>
          </a:p>
          <a:p>
            <a:pPr>
              <a:lnSpc>
                <a:spcPct val="150000"/>
              </a:lnSpc>
            </a:pPr>
            <a:r>
              <a:rPr sz="1300">
                <a:solidFill>
                  <a:srgbClr val="32323C"/>
                </a:solidFill>
                <a:latin typeface="Microsoft YaHei"/>
              </a:rPr>
              <a:t>    评估时间：术前、术后 1 个月</a:t>
            </a:r>
          </a:p>
          <a:p>
            <a:pPr>
              <a:lnSpc>
                <a:spcPct val="150000"/>
              </a:lnSpc>
            </a:pPr>
          </a:p>
          <a:p>
            <a:pPr>
              <a:lnSpc>
                <a:spcPct val="150000"/>
              </a:lnSpc>
            </a:pPr>
            <a:r>
              <a:rPr sz="1300">
                <a:solidFill>
                  <a:srgbClr val="32323C"/>
                </a:solidFill>
                <a:latin typeface="Microsoft YaHei"/>
              </a:rPr>
              <a:t>③ 疼痛评分（VAS）</a:t>
            </a:r>
          </a:p>
          <a:p>
            <a:pPr>
              <a:lnSpc>
                <a:spcPct val="150000"/>
              </a:lnSpc>
            </a:pPr>
            <a:r>
              <a:rPr sz="1300">
                <a:solidFill>
                  <a:srgbClr val="32323C"/>
                </a:solidFill>
                <a:latin typeface="Microsoft YaHei"/>
              </a:rPr>
              <a:t>    评分范围：0-10 分</a:t>
            </a:r>
          </a:p>
          <a:p>
            <a:pPr>
              <a:lnSpc>
                <a:spcPct val="150000"/>
              </a:lnSpc>
            </a:pPr>
            <a:r>
              <a:rPr sz="1300">
                <a:solidFill>
                  <a:srgbClr val="32323C"/>
                </a:solidFill>
                <a:latin typeface="Microsoft YaHei"/>
              </a:rPr>
              <a:t>    评估时间：术后 1 日、1 周、1 个月</a:t>
            </a:r>
          </a:p>
        </p:txBody>
      </p:sp>
      <p:sp>
        <p:nvSpPr>
          <p:cNvPr id="11" name="TextBox 10"/>
          <p:cNvSpPr txBox="1"/>
          <p:nvPr/>
        </p:nvSpPr>
        <p:spPr>
          <a:xfrm>
            <a:off x="6217920" y="1371600"/>
            <a:ext cx="2468880" cy="457200"/>
          </a:xfrm>
          <a:prstGeom prst="rect">
            <a:avLst/>
          </a:prstGeom>
          <a:noFill/>
        </p:spPr>
        <p:txBody>
          <a:bodyPr wrap="square">
            <a:spAutoFit/>
          </a:bodyPr>
          <a:lstStyle/>
          <a:p>
            <a:pPr>
              <a:lnSpc>
                <a:spcPct val="150000"/>
              </a:lnSpc>
            </a:pPr>
            <a:r>
              <a:rPr sz="2000" b="1">
                <a:solidFill>
                  <a:srgbClr val="48C7DC"/>
                </a:solidFill>
                <a:latin typeface="Microsoft YaHei"/>
              </a:rPr>
              <a:t>次要结局指标</a:t>
            </a:r>
          </a:p>
        </p:txBody>
      </p:sp>
      <p:sp>
        <p:nvSpPr>
          <p:cNvPr id="12" name="TextBox 11"/>
          <p:cNvSpPr txBox="1"/>
          <p:nvPr/>
        </p:nvSpPr>
        <p:spPr>
          <a:xfrm>
            <a:off x="6217920" y="2011680"/>
            <a:ext cx="2468880" cy="4206240"/>
          </a:xfrm>
          <a:prstGeom prst="rect">
            <a:avLst/>
          </a:prstGeom>
          <a:noFill/>
        </p:spPr>
        <p:txBody>
          <a:bodyPr wrap="square">
            <a:spAutoFit/>
          </a:bodyPr>
          <a:lstStyle/>
          <a:p>
            <a:pPr>
              <a:lnSpc>
                <a:spcPct val="150000"/>
              </a:lnSpc>
            </a:pPr>
            <a:r>
              <a:rPr sz="1500">
                <a:solidFill>
                  <a:srgbClr val="DCEBFA"/>
                </a:solidFill>
                <a:latin typeface="Microsoft YaHei"/>
              </a:rPr>
              <a:t>◆ 控尿能力</a:t>
            </a:r>
          </a:p>
          <a:p>
            <a:pPr>
              <a:lnSpc>
                <a:spcPct val="150000"/>
              </a:lnSpc>
            </a:pPr>
          </a:p>
          <a:p>
            <a:pPr>
              <a:lnSpc>
                <a:spcPct val="150000"/>
              </a:lnSpc>
            </a:pPr>
          </a:p>
          <a:p>
            <a:pPr>
              <a:lnSpc>
                <a:spcPct val="150000"/>
              </a:lnSpc>
            </a:pPr>
            <a:r>
              <a:rPr sz="1500">
                <a:solidFill>
                  <a:srgbClr val="DCEBFA"/>
                </a:solidFill>
                <a:latin typeface="Microsoft YaHei"/>
              </a:rPr>
              <a:t>◆ 治疗依从性</a:t>
            </a:r>
          </a:p>
          <a:p>
            <a:pPr>
              <a:lnSpc>
                <a:spcPct val="150000"/>
              </a:lnSpc>
            </a:pPr>
          </a:p>
          <a:p>
            <a:pPr>
              <a:lnSpc>
                <a:spcPct val="150000"/>
              </a:lnSpc>
            </a:pPr>
          </a:p>
          <a:p>
            <a:pPr>
              <a:lnSpc>
                <a:spcPct val="150000"/>
              </a:lnSpc>
            </a:pPr>
            <a:r>
              <a:rPr sz="1500">
                <a:solidFill>
                  <a:srgbClr val="DCEBFA"/>
                </a:solidFill>
                <a:latin typeface="Microsoft YaHei"/>
              </a:rPr>
              <a:t>◆ 护理满意度</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nSpc>
                <a:spcPct val="150000"/>
              </a:lnSpc>
            </a:pPr>
            <a:r>
              <a:t>研究结果</a:t>
            </a:r>
          </a:p>
        </p:txBody>
      </p:sp>
      <p:sp>
        <p:nvSpPr>
          <p:cNvPr id="3" name="Content Placeholder 2"/>
          <p:cNvSpPr>
            <a:spLocks noGrp="1"/>
          </p:cNvSpPr>
          <p:nvPr>
            <p:ph idx="1"/>
          </p:nvPr>
        </p:nvSpPr>
        <p:spPr/>
        <p:txBody>
          <a:bodyPr/>
          <a:lstStyle/>
          <a:p>
            <a:pPr>
              <a:lnSpc>
                <a:spcPct val="150000"/>
              </a:lnSpc>
            </a:pPr>
          </a:p>
        </p:txBody>
      </p:sp>
      <p:sp>
        <p:nvSpPr>
          <p:cNvPr id="4" name="Rectangle 3"/>
          <p:cNvSpPr/>
          <p:nvPr/>
        </p:nvSpPr>
        <p:spPr>
          <a:xfrm>
            <a:off x="0" y="0"/>
            <a:ext cx="9144000" cy="914400"/>
          </a:xfrm>
          <a:prstGeom prst="rect">
            <a:avLst/>
          </a:prstGeom>
          <a:solidFill>
            <a:srgbClr val="0F3769"/>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5" name="Rectangle 4"/>
          <p:cNvSpPr/>
          <p:nvPr/>
        </p:nvSpPr>
        <p:spPr>
          <a:xfrm>
            <a:off x="0" y="914400"/>
            <a:ext cx="9144000" cy="45720"/>
          </a:xfrm>
          <a:prstGeom prst="rect">
            <a:avLst/>
          </a:prstGeom>
          <a:solidFill>
            <a:srgbClr val="48C7DC"/>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6" name="TextBox 5"/>
          <p:cNvSpPr txBox="1"/>
          <p:nvPr/>
        </p:nvSpPr>
        <p:spPr>
          <a:xfrm>
            <a:off x="457200" y="137160"/>
            <a:ext cx="8229600" cy="640080"/>
          </a:xfrm>
          <a:prstGeom prst="rect">
            <a:avLst/>
          </a:prstGeom>
          <a:noFill/>
        </p:spPr>
        <p:txBody>
          <a:bodyPr wrap="square">
            <a:spAutoFit/>
          </a:bodyPr>
          <a:lstStyle/>
          <a:p>
            <a:pPr>
              <a:lnSpc>
                <a:spcPct val="150000"/>
              </a:lnSpc>
            </a:pPr>
            <a:r>
              <a:rPr sz="2800" b="1">
                <a:solidFill>
                  <a:srgbClr val="FFFFFF"/>
                </a:solidFill>
                <a:latin typeface="Microsoft YaHei"/>
              </a:rPr>
              <a:t>研究结果</a:t>
            </a:r>
          </a:p>
        </p:txBody>
      </p:sp>
      <p:sp>
        <p:nvSpPr>
          <p:cNvPr id="7" name="Rounded Rectangle 6"/>
          <p:cNvSpPr/>
          <p:nvPr/>
        </p:nvSpPr>
        <p:spPr>
          <a:xfrm>
            <a:off x="182880" y="1188720"/>
            <a:ext cx="4297680" cy="2286000"/>
          </a:xfrm>
          <a:prstGeom prst="roundRect">
            <a:avLst/>
          </a:prstGeom>
          <a:solidFill>
            <a:srgbClr val="FFFFFF"/>
          </a:solidFill>
          <a:ln w="25400">
            <a:solidFill>
              <a:srgbClr val="1E5096"/>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8" name="Rounded Rectangle 7"/>
          <p:cNvSpPr/>
          <p:nvPr/>
        </p:nvSpPr>
        <p:spPr>
          <a:xfrm>
            <a:off x="4663440" y="1188720"/>
            <a:ext cx="4297680" cy="2286000"/>
          </a:xfrm>
          <a:prstGeom prst="roundRect">
            <a:avLst/>
          </a:prstGeom>
          <a:solidFill>
            <a:srgbClr val="FFFFFF"/>
          </a:solidFill>
          <a:ln w="25400">
            <a:solidFill>
              <a:srgbClr val="48C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9" name="Rounded Rectangle 8"/>
          <p:cNvSpPr/>
          <p:nvPr/>
        </p:nvSpPr>
        <p:spPr>
          <a:xfrm>
            <a:off x="182880" y="3749039"/>
            <a:ext cx="4297680" cy="2286000"/>
          </a:xfrm>
          <a:prstGeom prst="roundRect">
            <a:avLst/>
          </a:prstGeom>
          <a:solidFill>
            <a:srgbClr val="FFFFFF"/>
          </a:solidFill>
          <a:ln w="25400">
            <a:solidFill>
              <a:srgbClr val="48C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10" name="Rounded Rectangle 9"/>
          <p:cNvSpPr/>
          <p:nvPr/>
        </p:nvSpPr>
        <p:spPr>
          <a:xfrm>
            <a:off x="4663440" y="3749039"/>
            <a:ext cx="4297680" cy="2286000"/>
          </a:xfrm>
          <a:prstGeom prst="roundRect">
            <a:avLst/>
          </a:prstGeom>
          <a:solidFill>
            <a:srgbClr val="FFFFFF"/>
          </a:solidFill>
          <a:ln w="25400">
            <a:solidFill>
              <a:srgbClr val="1E5096"/>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11" name="TextBox 10"/>
          <p:cNvSpPr txBox="1"/>
          <p:nvPr/>
        </p:nvSpPr>
        <p:spPr>
          <a:xfrm>
            <a:off x="457200" y="1325880"/>
            <a:ext cx="3749039" cy="548640"/>
          </a:xfrm>
          <a:prstGeom prst="rect">
            <a:avLst/>
          </a:prstGeom>
          <a:noFill/>
        </p:spPr>
        <p:txBody>
          <a:bodyPr wrap="square">
            <a:spAutoFit/>
          </a:bodyPr>
          <a:lstStyle/>
          <a:p>
            <a:pPr algn="ctr">
              <a:lnSpc>
                <a:spcPct val="150000"/>
              </a:lnSpc>
            </a:pPr>
            <a:r>
              <a:rPr sz="2800" b="1">
                <a:solidFill>
                  <a:srgbClr val="1E5096"/>
                </a:solidFill>
                <a:latin typeface="Calibri"/>
              </a:rPr>
              <a:t>P &lt; 0.001</a:t>
            </a:r>
          </a:p>
        </p:txBody>
      </p:sp>
      <p:sp>
        <p:nvSpPr>
          <p:cNvPr id="12" name="TextBox 11"/>
          <p:cNvSpPr txBox="1"/>
          <p:nvPr/>
        </p:nvSpPr>
        <p:spPr>
          <a:xfrm>
            <a:off x="457200" y="2011680"/>
            <a:ext cx="3749039" cy="1280160"/>
          </a:xfrm>
          <a:prstGeom prst="rect">
            <a:avLst/>
          </a:prstGeom>
          <a:noFill/>
        </p:spPr>
        <p:txBody>
          <a:bodyPr wrap="square">
            <a:spAutoFit/>
          </a:bodyPr>
          <a:lstStyle/>
          <a:p>
            <a:pPr algn="ctr">
              <a:lnSpc>
                <a:spcPct val="150000"/>
              </a:lnSpc>
            </a:pPr>
            <a:r>
              <a:rPr sz="1200">
                <a:solidFill>
                  <a:srgbClr val="50505A"/>
                </a:solidFill>
                <a:latin typeface="Microsoft YaHei"/>
              </a:rPr>
              <a:t>前列腺症状显著改善</a:t>
            </a:r>
          </a:p>
          <a:p>
            <a:pPr algn="ctr">
              <a:lnSpc>
                <a:spcPct val="150000"/>
              </a:lnSpc>
            </a:pPr>
            <a:r>
              <a:rPr sz="1200">
                <a:solidFill>
                  <a:srgbClr val="50505A"/>
                </a:solidFill>
                <a:latin typeface="Microsoft YaHei"/>
              </a:rPr>
              <a:t>术后1个月，观察组 IPSS 评分显著低于对照组</a:t>
            </a:r>
          </a:p>
          <a:p>
            <a:pPr algn="ctr">
              <a:lnSpc>
                <a:spcPct val="150000"/>
              </a:lnSpc>
            </a:pPr>
            <a:r>
              <a:rPr sz="1200">
                <a:solidFill>
                  <a:srgbClr val="50505A"/>
                </a:solidFill>
                <a:latin typeface="Microsoft YaHei"/>
              </a:rPr>
              <a:t>观察组症状改善幅度更大</a:t>
            </a:r>
          </a:p>
        </p:txBody>
      </p:sp>
      <p:sp>
        <p:nvSpPr>
          <p:cNvPr id="13" name="TextBox 12"/>
          <p:cNvSpPr txBox="1"/>
          <p:nvPr/>
        </p:nvSpPr>
        <p:spPr>
          <a:xfrm>
            <a:off x="4937760" y="1325880"/>
            <a:ext cx="3749039" cy="548640"/>
          </a:xfrm>
          <a:prstGeom prst="rect">
            <a:avLst/>
          </a:prstGeom>
          <a:noFill/>
        </p:spPr>
        <p:txBody>
          <a:bodyPr wrap="square">
            <a:spAutoFit/>
          </a:bodyPr>
          <a:lstStyle/>
          <a:p>
            <a:pPr algn="ctr">
              <a:lnSpc>
                <a:spcPct val="150000"/>
              </a:lnSpc>
            </a:pPr>
            <a:r>
              <a:rPr sz="2800" b="1">
                <a:solidFill>
                  <a:srgbClr val="2AA0BE"/>
                </a:solidFill>
                <a:latin typeface="Calibri"/>
              </a:rPr>
              <a:t>P &lt; 0.001</a:t>
            </a:r>
          </a:p>
        </p:txBody>
      </p:sp>
      <p:sp>
        <p:nvSpPr>
          <p:cNvPr id="14" name="TextBox 13"/>
          <p:cNvSpPr txBox="1"/>
          <p:nvPr/>
        </p:nvSpPr>
        <p:spPr>
          <a:xfrm>
            <a:off x="4937760" y="2011680"/>
            <a:ext cx="3749039" cy="1280160"/>
          </a:xfrm>
          <a:prstGeom prst="rect">
            <a:avLst/>
          </a:prstGeom>
          <a:noFill/>
        </p:spPr>
        <p:txBody>
          <a:bodyPr wrap="square">
            <a:spAutoFit/>
          </a:bodyPr>
          <a:lstStyle/>
          <a:p>
            <a:pPr algn="ctr">
              <a:lnSpc>
                <a:spcPct val="150000"/>
              </a:lnSpc>
            </a:pPr>
            <a:r>
              <a:rPr sz="1200">
                <a:solidFill>
                  <a:srgbClr val="50505A"/>
                </a:solidFill>
                <a:latin typeface="Microsoft YaHei"/>
              </a:rPr>
              <a:t>焦虑抑郁情绪明显缓解</a:t>
            </a:r>
          </a:p>
          <a:p>
            <a:pPr algn="ctr">
              <a:lnSpc>
                <a:spcPct val="150000"/>
              </a:lnSpc>
            </a:pPr>
            <a:r>
              <a:rPr sz="1200">
                <a:solidFill>
                  <a:srgbClr val="50505A"/>
                </a:solidFill>
                <a:latin typeface="Microsoft YaHei"/>
              </a:rPr>
              <a:t>术后1个月，观察组 SAS/SDS 评分均显著低于对照组</a:t>
            </a:r>
          </a:p>
          <a:p>
            <a:pPr algn="ctr">
              <a:lnSpc>
                <a:spcPct val="150000"/>
              </a:lnSpc>
            </a:pPr>
            <a:r>
              <a:rPr sz="1200">
                <a:solidFill>
                  <a:srgbClr val="50505A"/>
                </a:solidFill>
                <a:latin typeface="Microsoft YaHei"/>
              </a:rPr>
              <a:t>观察组心理状态更佳</a:t>
            </a:r>
          </a:p>
        </p:txBody>
      </p:sp>
      <p:sp>
        <p:nvSpPr>
          <p:cNvPr id="15" name="TextBox 14"/>
          <p:cNvSpPr txBox="1"/>
          <p:nvPr/>
        </p:nvSpPr>
        <p:spPr>
          <a:xfrm>
            <a:off x="457200" y="3886200"/>
            <a:ext cx="3749039" cy="548640"/>
          </a:xfrm>
          <a:prstGeom prst="rect">
            <a:avLst/>
          </a:prstGeom>
          <a:noFill/>
        </p:spPr>
        <p:txBody>
          <a:bodyPr wrap="square">
            <a:spAutoFit/>
          </a:bodyPr>
          <a:lstStyle/>
          <a:p>
            <a:pPr algn="ctr">
              <a:lnSpc>
                <a:spcPct val="150000"/>
              </a:lnSpc>
            </a:pPr>
            <a:r>
              <a:rPr sz="2800" b="1">
                <a:solidFill>
                  <a:srgbClr val="2AA0BE"/>
                </a:solidFill>
                <a:latin typeface="Calibri"/>
              </a:rPr>
              <a:t>P &lt; 0.001</a:t>
            </a:r>
          </a:p>
        </p:txBody>
      </p:sp>
      <p:sp>
        <p:nvSpPr>
          <p:cNvPr id="16" name="TextBox 15"/>
          <p:cNvSpPr txBox="1"/>
          <p:nvPr/>
        </p:nvSpPr>
        <p:spPr>
          <a:xfrm>
            <a:off x="457200" y="4572000"/>
            <a:ext cx="3749039" cy="1280160"/>
          </a:xfrm>
          <a:prstGeom prst="rect">
            <a:avLst/>
          </a:prstGeom>
          <a:noFill/>
        </p:spPr>
        <p:txBody>
          <a:bodyPr wrap="square">
            <a:spAutoFit/>
          </a:bodyPr>
          <a:lstStyle/>
          <a:p>
            <a:pPr algn="ctr">
              <a:lnSpc>
                <a:spcPct val="150000"/>
              </a:lnSpc>
            </a:pPr>
            <a:r>
              <a:rPr sz="1200">
                <a:solidFill>
                  <a:srgbClr val="50505A"/>
                </a:solidFill>
                <a:latin typeface="Microsoft YaHei"/>
              </a:rPr>
              <a:t>疼痛程度显著降低</a:t>
            </a:r>
          </a:p>
          <a:p>
            <a:pPr algn="ctr">
              <a:lnSpc>
                <a:spcPct val="150000"/>
              </a:lnSpc>
            </a:pPr>
            <a:r>
              <a:rPr sz="1200">
                <a:solidFill>
                  <a:srgbClr val="50505A"/>
                </a:solidFill>
                <a:latin typeface="Microsoft YaHei"/>
              </a:rPr>
              <a:t>术后1日和1周，观察组 VAS 评分均显著低于对照组</a:t>
            </a:r>
          </a:p>
          <a:p>
            <a:pPr algn="ctr">
              <a:lnSpc>
                <a:spcPct val="150000"/>
              </a:lnSpc>
            </a:pPr>
            <a:r>
              <a:rPr sz="1200">
                <a:solidFill>
                  <a:srgbClr val="50505A"/>
                </a:solidFill>
                <a:latin typeface="Microsoft YaHei"/>
              </a:rPr>
              <a:t>观察组疼痛管理效果更好</a:t>
            </a:r>
          </a:p>
        </p:txBody>
      </p:sp>
      <p:sp>
        <p:nvSpPr>
          <p:cNvPr id="17" name="TextBox 16"/>
          <p:cNvSpPr txBox="1"/>
          <p:nvPr/>
        </p:nvSpPr>
        <p:spPr>
          <a:xfrm>
            <a:off x="4937760" y="3886200"/>
            <a:ext cx="3749039" cy="548640"/>
          </a:xfrm>
          <a:prstGeom prst="rect">
            <a:avLst/>
          </a:prstGeom>
          <a:noFill/>
        </p:spPr>
        <p:txBody>
          <a:bodyPr wrap="square">
            <a:spAutoFit/>
          </a:bodyPr>
          <a:lstStyle/>
          <a:p>
            <a:pPr algn="ctr">
              <a:lnSpc>
                <a:spcPct val="150000"/>
              </a:lnSpc>
            </a:pPr>
            <a:r>
              <a:rPr sz="2800" b="1">
                <a:solidFill>
                  <a:srgbClr val="1E5096"/>
                </a:solidFill>
                <a:latin typeface="Calibri"/>
              </a:rPr>
              <a:t>P &lt; 0.05</a:t>
            </a:r>
          </a:p>
        </p:txBody>
      </p:sp>
      <p:sp>
        <p:nvSpPr>
          <p:cNvPr id="18" name="TextBox 17"/>
          <p:cNvSpPr txBox="1"/>
          <p:nvPr/>
        </p:nvSpPr>
        <p:spPr>
          <a:xfrm>
            <a:off x="4937760" y="4572000"/>
            <a:ext cx="3749039" cy="1280160"/>
          </a:xfrm>
          <a:prstGeom prst="rect">
            <a:avLst/>
          </a:prstGeom>
          <a:noFill/>
        </p:spPr>
        <p:txBody>
          <a:bodyPr wrap="square">
            <a:spAutoFit/>
          </a:bodyPr>
          <a:lstStyle/>
          <a:p>
            <a:pPr algn="ctr">
              <a:lnSpc>
                <a:spcPct val="150000"/>
              </a:lnSpc>
            </a:pPr>
            <a:r>
              <a:rPr sz="1200">
                <a:solidFill>
                  <a:srgbClr val="50505A"/>
                </a:solidFill>
                <a:latin typeface="Microsoft YaHei"/>
              </a:rPr>
              <a:t>次要指标全面提升</a:t>
            </a:r>
          </a:p>
          <a:p>
            <a:pPr algn="ctr">
              <a:lnSpc>
                <a:spcPct val="150000"/>
              </a:lnSpc>
            </a:pPr>
            <a:r>
              <a:rPr sz="1200">
                <a:solidFill>
                  <a:srgbClr val="50505A"/>
                </a:solidFill>
                <a:latin typeface="Microsoft YaHei"/>
              </a:rPr>
              <a:t>控尿能力、治疗依从性、护理满意度</a:t>
            </a:r>
          </a:p>
          <a:p>
            <a:pPr algn="ctr">
              <a:lnSpc>
                <a:spcPct val="150000"/>
              </a:lnSpc>
            </a:pPr>
            <a:r>
              <a:rPr sz="1200">
                <a:solidFill>
                  <a:srgbClr val="50505A"/>
                </a:solidFill>
                <a:latin typeface="Microsoft YaHei"/>
              </a:rPr>
              <a:t>观察组均优于对照组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nSpc>
                <a:spcPct val="150000"/>
              </a:lnSpc>
            </a:pPr>
            <a:r>
              <a:t>研究结论与创新点</a:t>
            </a:r>
          </a:p>
        </p:txBody>
      </p:sp>
      <p:sp>
        <p:nvSpPr>
          <p:cNvPr id="3" name="Content Placeholder 2"/>
          <p:cNvSpPr>
            <a:spLocks noGrp="1"/>
          </p:cNvSpPr>
          <p:nvPr>
            <p:ph idx="1"/>
          </p:nvPr>
        </p:nvSpPr>
        <p:spPr/>
        <p:txBody>
          <a:bodyPr/>
          <a:lstStyle/>
          <a:p>
            <a:pPr>
              <a:lnSpc>
                <a:spcPct val="150000"/>
              </a:lnSpc>
            </a:pPr>
          </a:p>
        </p:txBody>
      </p:sp>
      <p:sp>
        <p:nvSpPr>
          <p:cNvPr id="4" name="Rectangle 3"/>
          <p:cNvSpPr/>
          <p:nvPr/>
        </p:nvSpPr>
        <p:spPr>
          <a:xfrm>
            <a:off x="0" y="0"/>
            <a:ext cx="9144000" cy="914400"/>
          </a:xfrm>
          <a:prstGeom prst="rect">
            <a:avLst/>
          </a:prstGeom>
          <a:solidFill>
            <a:srgbClr val="0F3769"/>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5" name="Rectangle 4"/>
          <p:cNvSpPr/>
          <p:nvPr/>
        </p:nvSpPr>
        <p:spPr>
          <a:xfrm>
            <a:off x="0" y="914400"/>
            <a:ext cx="9144000" cy="45720"/>
          </a:xfrm>
          <a:prstGeom prst="rect">
            <a:avLst/>
          </a:prstGeom>
          <a:solidFill>
            <a:srgbClr val="48C7DC"/>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6" name="TextBox 5"/>
          <p:cNvSpPr txBox="1"/>
          <p:nvPr/>
        </p:nvSpPr>
        <p:spPr>
          <a:xfrm>
            <a:off x="457200" y="137160"/>
            <a:ext cx="8229600" cy="640080"/>
          </a:xfrm>
          <a:prstGeom prst="rect">
            <a:avLst/>
          </a:prstGeom>
          <a:noFill/>
        </p:spPr>
        <p:txBody>
          <a:bodyPr wrap="square">
            <a:spAutoFit/>
          </a:bodyPr>
          <a:lstStyle/>
          <a:p>
            <a:pPr>
              <a:lnSpc>
                <a:spcPct val="150000"/>
              </a:lnSpc>
            </a:pPr>
            <a:r>
              <a:rPr sz="2800" b="1">
                <a:solidFill>
                  <a:srgbClr val="FFFFFF"/>
                </a:solidFill>
                <a:latin typeface="Microsoft YaHei"/>
              </a:rPr>
              <a:t>研究结论与创新点</a:t>
            </a:r>
          </a:p>
        </p:txBody>
      </p:sp>
      <p:sp>
        <p:nvSpPr>
          <p:cNvPr id="7" name="Rounded Rectangle 6"/>
          <p:cNvSpPr/>
          <p:nvPr/>
        </p:nvSpPr>
        <p:spPr>
          <a:xfrm>
            <a:off x="365760" y="1188720"/>
            <a:ext cx="4023360" cy="5212080"/>
          </a:xfrm>
          <a:prstGeom prst="roundRect">
            <a:avLst/>
          </a:prstGeom>
          <a:solidFill>
            <a:srgbClr val="FFFFFF"/>
          </a:solidFill>
          <a:ln w="1270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8" name="Rounded Rectangle 7"/>
          <p:cNvSpPr/>
          <p:nvPr/>
        </p:nvSpPr>
        <p:spPr>
          <a:xfrm>
            <a:off x="4754880" y="1188720"/>
            <a:ext cx="4023360" cy="5212080"/>
          </a:xfrm>
          <a:prstGeom prst="roundRect">
            <a:avLst/>
          </a:prstGeom>
          <a:solidFill>
            <a:srgbClr val="FFFFFF"/>
          </a:solidFill>
          <a:ln w="1270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9" name="Rectangle 8"/>
          <p:cNvSpPr/>
          <p:nvPr/>
        </p:nvSpPr>
        <p:spPr>
          <a:xfrm>
            <a:off x="365760" y="1188720"/>
            <a:ext cx="4023360" cy="457200"/>
          </a:xfrm>
          <a:prstGeom prst="rect">
            <a:avLst/>
          </a:prstGeom>
          <a:solidFill>
            <a:srgbClr val="1E5096"/>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10" name="Rectangle 9"/>
          <p:cNvSpPr/>
          <p:nvPr/>
        </p:nvSpPr>
        <p:spPr>
          <a:xfrm>
            <a:off x="4754880" y="1188720"/>
            <a:ext cx="4023360" cy="457200"/>
          </a:xfrm>
          <a:prstGeom prst="rect">
            <a:avLst/>
          </a:prstGeom>
          <a:solidFill>
            <a:srgbClr val="48C7DC"/>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11" name="TextBox 10"/>
          <p:cNvSpPr txBox="1"/>
          <p:nvPr/>
        </p:nvSpPr>
        <p:spPr>
          <a:xfrm>
            <a:off x="548640" y="1207008"/>
            <a:ext cx="3657600" cy="420624"/>
          </a:xfrm>
          <a:prstGeom prst="rect">
            <a:avLst/>
          </a:prstGeom>
          <a:noFill/>
        </p:spPr>
        <p:txBody>
          <a:bodyPr wrap="square">
            <a:spAutoFit/>
          </a:bodyPr>
          <a:lstStyle/>
          <a:p>
            <a:pPr>
              <a:lnSpc>
                <a:spcPct val="150000"/>
              </a:lnSpc>
            </a:pPr>
            <a:r>
              <a:rPr sz="1800" b="1">
                <a:solidFill>
                  <a:srgbClr val="FFFFFF"/>
                </a:solidFill>
                <a:latin typeface="Microsoft YaHei"/>
              </a:rPr>
              <a:t>研究结论</a:t>
            </a:r>
          </a:p>
        </p:txBody>
      </p:sp>
      <p:sp>
        <p:nvSpPr>
          <p:cNvPr id="12" name="TextBox 11"/>
          <p:cNvSpPr txBox="1"/>
          <p:nvPr/>
        </p:nvSpPr>
        <p:spPr>
          <a:xfrm>
            <a:off x="4937760" y="1207008"/>
            <a:ext cx="3657600" cy="420624"/>
          </a:xfrm>
          <a:prstGeom prst="rect">
            <a:avLst/>
          </a:prstGeom>
          <a:noFill/>
        </p:spPr>
        <p:txBody>
          <a:bodyPr wrap="square">
            <a:spAutoFit/>
          </a:bodyPr>
          <a:lstStyle/>
          <a:p>
            <a:pPr>
              <a:lnSpc>
                <a:spcPct val="150000"/>
              </a:lnSpc>
            </a:pPr>
            <a:r>
              <a:rPr sz="1800" b="1">
                <a:solidFill>
                  <a:srgbClr val="FFFFFF"/>
                </a:solidFill>
                <a:latin typeface="Microsoft YaHei"/>
              </a:rPr>
              <a:t>创新点</a:t>
            </a:r>
          </a:p>
        </p:txBody>
      </p:sp>
      <p:sp>
        <p:nvSpPr>
          <p:cNvPr id="13" name="TextBox 12"/>
          <p:cNvSpPr txBox="1"/>
          <p:nvPr/>
        </p:nvSpPr>
        <p:spPr>
          <a:xfrm>
            <a:off x="548640" y="1828800"/>
            <a:ext cx="3657600" cy="4389120"/>
          </a:xfrm>
          <a:prstGeom prst="rect">
            <a:avLst/>
          </a:prstGeom>
          <a:noFill/>
        </p:spPr>
        <p:txBody>
          <a:bodyPr wrap="square">
            <a:spAutoFit/>
          </a:bodyPr>
          <a:lstStyle/>
          <a:p>
            <a:pPr>
              <a:lnSpc>
                <a:spcPct val="150000"/>
              </a:lnSpc>
            </a:pPr>
            <a:r>
              <a:rPr sz="1400">
                <a:solidFill>
                  <a:srgbClr val="32323C"/>
                </a:solidFill>
                <a:latin typeface="Microsoft YaHei"/>
              </a:rPr>
              <a:t>基于时效性激励理论的护理干预能够：</a:t>
            </a:r>
          </a:p>
          <a:p>
            <a:pPr>
              <a:lnSpc>
                <a:spcPct val="150000"/>
              </a:lnSpc>
            </a:pPr>
          </a:p>
          <a:p>
            <a:pPr>
              <a:lnSpc>
                <a:spcPct val="150000"/>
              </a:lnSpc>
            </a:pPr>
            <a:r>
              <a:rPr sz="1400">
                <a:solidFill>
                  <a:srgbClr val="32323C"/>
                </a:solidFill>
                <a:latin typeface="Microsoft YaHei"/>
              </a:rPr>
              <a:t>① 显著改善术后前列腺症状</a:t>
            </a:r>
          </a:p>
          <a:p>
            <a:pPr>
              <a:lnSpc>
                <a:spcPct val="150000"/>
              </a:lnSpc>
            </a:pPr>
          </a:p>
          <a:p>
            <a:pPr>
              <a:lnSpc>
                <a:spcPct val="150000"/>
              </a:lnSpc>
            </a:pPr>
            <a:r>
              <a:rPr sz="1400">
                <a:solidFill>
                  <a:srgbClr val="32323C"/>
                </a:solidFill>
                <a:latin typeface="Microsoft YaHei"/>
              </a:rPr>
              <a:t>② 有效缓解焦虑抑郁情绪</a:t>
            </a:r>
          </a:p>
          <a:p>
            <a:pPr>
              <a:lnSpc>
                <a:spcPct val="150000"/>
              </a:lnSpc>
            </a:pPr>
          </a:p>
          <a:p>
            <a:pPr>
              <a:lnSpc>
                <a:spcPct val="150000"/>
              </a:lnSpc>
            </a:pPr>
            <a:r>
              <a:rPr sz="1400">
                <a:solidFill>
                  <a:srgbClr val="32323C"/>
                </a:solidFill>
                <a:latin typeface="Microsoft YaHei"/>
              </a:rPr>
              <a:t>③ 明显降低术后疼痛程度</a:t>
            </a:r>
          </a:p>
          <a:p>
            <a:pPr>
              <a:lnSpc>
                <a:spcPct val="150000"/>
              </a:lnSpc>
            </a:pPr>
          </a:p>
          <a:p>
            <a:pPr>
              <a:lnSpc>
                <a:spcPct val="150000"/>
              </a:lnSpc>
            </a:pPr>
            <a:r>
              <a:rPr sz="1400">
                <a:solidFill>
                  <a:srgbClr val="32323C"/>
                </a:solidFill>
                <a:latin typeface="Microsoft YaHei"/>
              </a:rPr>
              <a:t>④ 提升控尿能力、治疗依从性</a:t>
            </a:r>
          </a:p>
          <a:p>
            <a:pPr>
              <a:lnSpc>
                <a:spcPct val="150000"/>
              </a:lnSpc>
            </a:pPr>
            <a:r>
              <a:rPr sz="1400">
                <a:solidFill>
                  <a:srgbClr val="32323C"/>
                </a:solidFill>
                <a:latin typeface="Microsoft YaHei"/>
              </a:rPr>
              <a:t>    和护理满意度</a:t>
            </a:r>
          </a:p>
          <a:p>
            <a:pPr>
              <a:lnSpc>
                <a:spcPct val="150000"/>
              </a:lnSpc>
            </a:pPr>
          </a:p>
          <a:p>
            <a:pPr>
              <a:lnSpc>
                <a:spcPct val="150000"/>
              </a:lnSpc>
            </a:pPr>
            <a:r>
              <a:rPr sz="1400">
                <a:solidFill>
                  <a:srgbClr val="32323C"/>
                </a:solidFill>
                <a:latin typeface="Microsoft YaHei"/>
              </a:rPr>
              <a:t>⑤ 具有临床推广价值</a:t>
            </a:r>
          </a:p>
        </p:txBody>
      </p:sp>
      <p:sp>
        <p:nvSpPr>
          <p:cNvPr id="14" name="TextBox 13"/>
          <p:cNvSpPr txBox="1"/>
          <p:nvPr/>
        </p:nvSpPr>
        <p:spPr>
          <a:xfrm>
            <a:off x="4937760" y="1828800"/>
            <a:ext cx="3657600" cy="4389120"/>
          </a:xfrm>
          <a:prstGeom prst="rect">
            <a:avLst/>
          </a:prstGeom>
          <a:noFill/>
        </p:spPr>
        <p:txBody>
          <a:bodyPr wrap="square">
            <a:spAutoFit/>
          </a:bodyPr>
          <a:lstStyle/>
          <a:p>
            <a:pPr>
              <a:lnSpc>
                <a:spcPct val="150000"/>
              </a:lnSpc>
            </a:pPr>
            <a:r>
              <a:rPr sz="1400">
                <a:solidFill>
                  <a:srgbClr val="32323C"/>
                </a:solidFill>
                <a:latin typeface="Microsoft YaHei"/>
              </a:rPr>
              <a:t>❶ 理论创新</a:t>
            </a:r>
          </a:p>
          <a:p>
            <a:pPr>
              <a:lnSpc>
                <a:spcPct val="150000"/>
              </a:lnSpc>
            </a:pPr>
            <a:r>
              <a:rPr sz="1400">
                <a:solidFill>
                  <a:srgbClr val="32323C"/>
                </a:solidFill>
                <a:latin typeface="Microsoft YaHei"/>
              </a:rPr>
              <a:t>首次将时效性激励理论系统应用于前列腺热蒸汽消融术护理</a:t>
            </a:r>
          </a:p>
          <a:p>
            <a:pPr>
              <a:lnSpc>
                <a:spcPct val="150000"/>
              </a:lnSpc>
            </a:pPr>
          </a:p>
          <a:p>
            <a:pPr>
              <a:lnSpc>
                <a:spcPct val="150000"/>
              </a:lnSpc>
            </a:pPr>
            <a:r>
              <a:rPr sz="1400">
                <a:solidFill>
                  <a:srgbClr val="32323C"/>
                </a:solidFill>
                <a:latin typeface="Microsoft YaHei"/>
              </a:rPr>
              <a:t>❷ 方法创新</a:t>
            </a:r>
          </a:p>
          <a:p>
            <a:pPr>
              <a:lnSpc>
                <a:spcPct val="150000"/>
              </a:lnSpc>
            </a:pPr>
            <a:r>
              <a:rPr sz="1400">
                <a:solidFill>
                  <a:srgbClr val="32323C"/>
                </a:solidFill>
                <a:latin typeface="Microsoft YaHei"/>
              </a:rPr>
              <a:t>构建了"四位一体"的激励护理模式</a:t>
            </a:r>
          </a:p>
          <a:p>
            <a:pPr>
              <a:lnSpc>
                <a:spcPct val="150000"/>
              </a:lnSpc>
            </a:pPr>
          </a:p>
          <a:p>
            <a:pPr>
              <a:lnSpc>
                <a:spcPct val="150000"/>
              </a:lnSpc>
            </a:pPr>
            <a:r>
              <a:rPr sz="1400">
                <a:solidFill>
                  <a:srgbClr val="32323C"/>
                </a:solidFill>
                <a:latin typeface="Microsoft YaHei"/>
              </a:rPr>
              <a:t>❸ 实践创新</a:t>
            </a:r>
          </a:p>
          <a:p>
            <a:pPr>
              <a:lnSpc>
                <a:spcPct val="150000"/>
              </a:lnSpc>
            </a:pPr>
            <a:r>
              <a:rPr sz="1400">
                <a:solidFill>
                  <a:srgbClr val="32323C"/>
                </a:solidFill>
                <a:latin typeface="Microsoft YaHei"/>
              </a:rPr>
              <a:t>为泌尿外科微创术后护理提供了新思路</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nSpc>
                <a:spcPct val="150000"/>
              </a:lnSpc>
            </a:pPr>
            <a:r>
              <a:t>研究局限性与展望</a:t>
            </a:r>
          </a:p>
        </p:txBody>
      </p:sp>
      <p:sp>
        <p:nvSpPr>
          <p:cNvPr id="3" name="Content Placeholder 2"/>
          <p:cNvSpPr>
            <a:spLocks noGrp="1"/>
          </p:cNvSpPr>
          <p:nvPr>
            <p:ph idx="1"/>
          </p:nvPr>
        </p:nvSpPr>
        <p:spPr/>
        <p:txBody>
          <a:bodyPr/>
          <a:lstStyle/>
          <a:p>
            <a:pPr>
              <a:lnSpc>
                <a:spcPct val="150000"/>
              </a:lnSpc>
            </a:pPr>
          </a:p>
        </p:txBody>
      </p:sp>
      <p:sp>
        <p:nvSpPr>
          <p:cNvPr id="4" name="Rectangle 3"/>
          <p:cNvSpPr/>
          <p:nvPr/>
        </p:nvSpPr>
        <p:spPr>
          <a:xfrm>
            <a:off x="0" y="0"/>
            <a:ext cx="9144000" cy="914400"/>
          </a:xfrm>
          <a:prstGeom prst="rect">
            <a:avLst/>
          </a:prstGeom>
          <a:solidFill>
            <a:srgbClr val="0F3769"/>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5" name="Rectangle 4"/>
          <p:cNvSpPr/>
          <p:nvPr/>
        </p:nvSpPr>
        <p:spPr>
          <a:xfrm>
            <a:off x="0" y="914400"/>
            <a:ext cx="9144000" cy="45720"/>
          </a:xfrm>
          <a:prstGeom prst="rect">
            <a:avLst/>
          </a:prstGeom>
          <a:solidFill>
            <a:srgbClr val="48C7DC"/>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6" name="TextBox 5"/>
          <p:cNvSpPr txBox="1"/>
          <p:nvPr/>
        </p:nvSpPr>
        <p:spPr>
          <a:xfrm>
            <a:off x="457200" y="137160"/>
            <a:ext cx="8229600" cy="640080"/>
          </a:xfrm>
          <a:prstGeom prst="rect">
            <a:avLst/>
          </a:prstGeom>
          <a:noFill/>
        </p:spPr>
        <p:txBody>
          <a:bodyPr wrap="square">
            <a:spAutoFit/>
          </a:bodyPr>
          <a:lstStyle/>
          <a:p>
            <a:pPr>
              <a:lnSpc>
                <a:spcPct val="150000"/>
              </a:lnSpc>
            </a:pPr>
            <a:r>
              <a:rPr sz="2800" b="1">
                <a:solidFill>
                  <a:srgbClr val="FFFFFF"/>
                </a:solidFill>
                <a:latin typeface="Microsoft YaHei"/>
              </a:rPr>
              <a:t>研究局限性与展望</a:t>
            </a:r>
          </a:p>
        </p:txBody>
      </p:sp>
      <p:sp>
        <p:nvSpPr>
          <p:cNvPr id="7" name="Rounded Rectangle 6"/>
          <p:cNvSpPr/>
          <p:nvPr/>
        </p:nvSpPr>
        <p:spPr>
          <a:xfrm>
            <a:off x="365760" y="1188720"/>
            <a:ext cx="4023360" cy="5212080"/>
          </a:xfrm>
          <a:prstGeom prst="roundRect">
            <a:avLst/>
          </a:prstGeom>
          <a:solidFill>
            <a:srgbClr val="FFFFFF"/>
          </a:solidFill>
          <a:ln w="1270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8" name="Rounded Rectangle 7"/>
          <p:cNvSpPr/>
          <p:nvPr/>
        </p:nvSpPr>
        <p:spPr>
          <a:xfrm>
            <a:off x="4754880" y="1188720"/>
            <a:ext cx="4023360" cy="5212080"/>
          </a:xfrm>
          <a:prstGeom prst="roundRect">
            <a:avLst/>
          </a:prstGeom>
          <a:solidFill>
            <a:srgbClr val="FFFFFF"/>
          </a:solidFill>
          <a:ln w="1270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9" name="Rectangle 8"/>
          <p:cNvSpPr/>
          <p:nvPr/>
        </p:nvSpPr>
        <p:spPr>
          <a:xfrm>
            <a:off x="365760" y="1188720"/>
            <a:ext cx="4023360" cy="457200"/>
          </a:xfrm>
          <a:prstGeom prst="rect">
            <a:avLst/>
          </a:prstGeom>
          <a:solidFill>
            <a:srgbClr val="1E5096"/>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10" name="Rectangle 9"/>
          <p:cNvSpPr/>
          <p:nvPr/>
        </p:nvSpPr>
        <p:spPr>
          <a:xfrm>
            <a:off x="4754880" y="1188720"/>
            <a:ext cx="4023360" cy="457200"/>
          </a:xfrm>
          <a:prstGeom prst="rect">
            <a:avLst/>
          </a:prstGeom>
          <a:solidFill>
            <a:srgbClr val="48C7DC"/>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11" name="TextBox 10"/>
          <p:cNvSpPr txBox="1"/>
          <p:nvPr/>
        </p:nvSpPr>
        <p:spPr>
          <a:xfrm>
            <a:off x="548640" y="1207008"/>
            <a:ext cx="3657600" cy="420624"/>
          </a:xfrm>
          <a:prstGeom prst="rect">
            <a:avLst/>
          </a:prstGeom>
          <a:noFill/>
        </p:spPr>
        <p:txBody>
          <a:bodyPr wrap="square">
            <a:spAutoFit/>
          </a:bodyPr>
          <a:lstStyle/>
          <a:p>
            <a:pPr>
              <a:lnSpc>
                <a:spcPct val="150000"/>
              </a:lnSpc>
            </a:pPr>
            <a:r>
              <a:rPr sz="1800" b="1">
                <a:solidFill>
                  <a:srgbClr val="FFFFFF"/>
                </a:solidFill>
                <a:latin typeface="Microsoft YaHei"/>
              </a:rPr>
              <a:t>研究局限性</a:t>
            </a:r>
          </a:p>
        </p:txBody>
      </p:sp>
      <p:sp>
        <p:nvSpPr>
          <p:cNvPr id="12" name="TextBox 11"/>
          <p:cNvSpPr txBox="1"/>
          <p:nvPr/>
        </p:nvSpPr>
        <p:spPr>
          <a:xfrm>
            <a:off x="4937760" y="1207008"/>
            <a:ext cx="3657600" cy="420624"/>
          </a:xfrm>
          <a:prstGeom prst="rect">
            <a:avLst/>
          </a:prstGeom>
          <a:noFill/>
        </p:spPr>
        <p:txBody>
          <a:bodyPr wrap="square">
            <a:spAutoFit/>
          </a:bodyPr>
          <a:lstStyle/>
          <a:p>
            <a:pPr>
              <a:lnSpc>
                <a:spcPct val="150000"/>
              </a:lnSpc>
            </a:pPr>
            <a:r>
              <a:rPr sz="1800" b="1">
                <a:solidFill>
                  <a:srgbClr val="FFFFFF"/>
                </a:solidFill>
                <a:latin typeface="Microsoft YaHei"/>
              </a:rPr>
              <a:t>未来研究方向</a:t>
            </a:r>
          </a:p>
        </p:txBody>
      </p:sp>
      <p:sp>
        <p:nvSpPr>
          <p:cNvPr id="13" name="TextBox 12"/>
          <p:cNvSpPr txBox="1"/>
          <p:nvPr/>
        </p:nvSpPr>
        <p:spPr>
          <a:xfrm>
            <a:off x="548640" y="1828800"/>
            <a:ext cx="3657600" cy="4389120"/>
          </a:xfrm>
          <a:prstGeom prst="rect">
            <a:avLst/>
          </a:prstGeom>
          <a:noFill/>
        </p:spPr>
        <p:txBody>
          <a:bodyPr wrap="square">
            <a:spAutoFit/>
          </a:bodyPr>
          <a:lstStyle/>
          <a:p>
            <a:pPr>
              <a:lnSpc>
                <a:spcPct val="150000"/>
              </a:lnSpc>
            </a:pPr>
            <a:r>
              <a:rPr sz="1400">
                <a:solidFill>
                  <a:srgbClr val="32323C"/>
                </a:solidFill>
                <a:latin typeface="Microsoft YaHei"/>
              </a:rPr>
              <a:t>① 单中心研究，样本代表性有限</a:t>
            </a:r>
          </a:p>
          <a:p>
            <a:pPr>
              <a:lnSpc>
                <a:spcPct val="150000"/>
              </a:lnSpc>
            </a:pPr>
          </a:p>
          <a:p>
            <a:pPr>
              <a:lnSpc>
                <a:spcPct val="150000"/>
              </a:lnSpc>
            </a:pPr>
            <a:r>
              <a:rPr sz="1400">
                <a:solidFill>
                  <a:srgbClr val="32323C"/>
                </a:solidFill>
                <a:latin typeface="Microsoft YaHei"/>
              </a:rPr>
              <a:t>② 随访时间较短（1个月），长期效果有待观察</a:t>
            </a:r>
          </a:p>
          <a:p>
            <a:pPr>
              <a:lnSpc>
                <a:spcPct val="150000"/>
              </a:lnSpc>
            </a:pPr>
          </a:p>
          <a:p>
            <a:pPr>
              <a:lnSpc>
                <a:spcPct val="150000"/>
              </a:lnSpc>
            </a:pPr>
            <a:r>
              <a:rPr sz="1400">
                <a:solidFill>
                  <a:srgbClr val="32323C"/>
                </a:solidFill>
                <a:latin typeface="Microsoft YaHei"/>
              </a:rPr>
              <a:t>③ 部分指标采用自制问卷，信效度需进一步验证</a:t>
            </a:r>
          </a:p>
        </p:txBody>
      </p:sp>
      <p:sp>
        <p:nvSpPr>
          <p:cNvPr id="14" name="TextBox 13"/>
          <p:cNvSpPr txBox="1"/>
          <p:nvPr/>
        </p:nvSpPr>
        <p:spPr>
          <a:xfrm>
            <a:off x="4937760" y="1828800"/>
            <a:ext cx="3657600" cy="4389120"/>
          </a:xfrm>
          <a:prstGeom prst="rect">
            <a:avLst/>
          </a:prstGeom>
          <a:noFill/>
        </p:spPr>
        <p:txBody>
          <a:bodyPr wrap="square">
            <a:spAutoFit/>
          </a:bodyPr>
          <a:lstStyle/>
          <a:p>
            <a:pPr>
              <a:lnSpc>
                <a:spcPct val="150000"/>
              </a:lnSpc>
            </a:pPr>
            <a:r>
              <a:rPr sz="1400">
                <a:solidFill>
                  <a:srgbClr val="32323C"/>
                </a:solidFill>
                <a:latin typeface="Microsoft YaHei"/>
              </a:rPr>
              <a:t>① 开展多中心、大样本研究</a:t>
            </a:r>
          </a:p>
          <a:p>
            <a:pPr>
              <a:lnSpc>
                <a:spcPct val="150000"/>
              </a:lnSpc>
            </a:pPr>
          </a:p>
          <a:p>
            <a:pPr>
              <a:lnSpc>
                <a:spcPct val="150000"/>
              </a:lnSpc>
            </a:pPr>
            <a:r>
              <a:rPr sz="1400">
                <a:solidFill>
                  <a:srgbClr val="32323C"/>
                </a:solidFill>
                <a:latin typeface="Microsoft YaHei"/>
              </a:rPr>
              <a:t>② 延长随访时间，观察长期效果</a:t>
            </a:r>
          </a:p>
          <a:p>
            <a:pPr>
              <a:lnSpc>
                <a:spcPct val="150000"/>
              </a:lnSpc>
            </a:pPr>
          </a:p>
          <a:p>
            <a:pPr>
              <a:lnSpc>
                <a:spcPct val="150000"/>
              </a:lnSpc>
            </a:pPr>
            <a:r>
              <a:rPr sz="1400">
                <a:solidFill>
                  <a:srgbClr val="32323C"/>
                </a:solidFill>
                <a:latin typeface="Microsoft YaHei"/>
              </a:rPr>
              <a:t>③ 探索时效性激励护理在其他泌尿外科手术中的应用</a:t>
            </a:r>
          </a:p>
          <a:p>
            <a:pPr>
              <a:lnSpc>
                <a:spcPct val="150000"/>
              </a:lnSpc>
            </a:pPr>
          </a:p>
          <a:p>
            <a:pPr>
              <a:lnSpc>
                <a:spcPct val="150000"/>
              </a:lnSpc>
            </a:pPr>
            <a:r>
              <a:rPr sz="1400">
                <a:solidFill>
                  <a:srgbClr val="32323C"/>
                </a:solidFill>
                <a:latin typeface="Microsoft YaHei"/>
              </a:rPr>
              <a:t>④ 结合肿瘤护理：将时效性激励理论应用于泌尿系统肿瘤患者护理</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nSpc>
                <a:spcPct val="150000"/>
              </a:lnSpc>
            </a:pPr>
            <a:r>
              <a:t>致谢</a:t>
            </a:r>
          </a:p>
        </p:txBody>
      </p:sp>
      <p:sp>
        <p:nvSpPr>
          <p:cNvPr id="3" name="Content Placeholder 2"/>
          <p:cNvSpPr>
            <a:spLocks noGrp="1"/>
          </p:cNvSpPr>
          <p:nvPr>
            <p:ph idx="1"/>
          </p:nvPr>
        </p:nvSpPr>
        <p:spPr/>
        <p:txBody>
          <a:bodyPr/>
          <a:lstStyle/>
          <a:p>
            <a:pPr>
              <a:lnSpc>
                <a:spcPct val="150000"/>
              </a:lnSpc>
            </a:pPr>
          </a:p>
        </p:txBody>
      </p:sp>
      <p:pic>
        <p:nvPicPr>
          <p:cNvPr id="4" name="Picture 3" descr="tmpvrjahnph.png"/>
          <p:cNvPicPr>
            <a:picLocks noChangeAspect="1"/>
          </p:cNvPicPr>
          <p:nvPr/>
        </p:nvPicPr>
        <p:blipFill>
          <a:blip r:embed="rId2"/>
          <a:stretch>
            <a:fillRect/>
          </a:stretch>
        </p:blipFill>
        <p:spPr>
          <a:xfrm>
            <a:off x="0" y="0"/>
            <a:ext cx="9144000" cy="6858000"/>
          </a:xfrm>
          <a:prstGeom prst="rect">
            <a:avLst/>
          </a:prstGeom>
        </p:spPr>
      </p:pic>
      <p:sp>
        <p:nvSpPr>
          <p:cNvPr id="5" name="Rectangle 4"/>
          <p:cNvSpPr/>
          <p:nvPr/>
        </p:nvSpPr>
        <p:spPr>
          <a:xfrm>
            <a:off x="0" y="0"/>
            <a:ext cx="9144000" cy="73152"/>
          </a:xfrm>
          <a:prstGeom prst="rect">
            <a:avLst/>
          </a:prstGeom>
          <a:solidFill>
            <a:srgbClr val="48C7DC"/>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6" name="Rectangle 5"/>
          <p:cNvSpPr/>
          <p:nvPr/>
        </p:nvSpPr>
        <p:spPr>
          <a:xfrm>
            <a:off x="0" y="6784848"/>
            <a:ext cx="9144000" cy="73152"/>
          </a:xfrm>
          <a:prstGeom prst="rect">
            <a:avLst/>
          </a:prstGeom>
          <a:solidFill>
            <a:srgbClr val="48C7DC"/>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7" name="TextBox 6"/>
          <p:cNvSpPr txBox="1"/>
          <p:nvPr/>
        </p:nvSpPr>
        <p:spPr>
          <a:xfrm>
            <a:off x="914400" y="1828800"/>
            <a:ext cx="7315200" cy="1371600"/>
          </a:xfrm>
          <a:prstGeom prst="rect">
            <a:avLst/>
          </a:prstGeom>
          <a:noFill/>
        </p:spPr>
        <p:txBody>
          <a:bodyPr wrap="square">
            <a:spAutoFit/>
          </a:bodyPr>
          <a:lstStyle/>
          <a:p>
            <a:pPr algn="ctr">
              <a:lnSpc>
                <a:spcPct val="150000"/>
              </a:lnSpc>
            </a:pPr>
            <a:r>
              <a:rPr sz="3600" b="1">
                <a:solidFill>
                  <a:srgbClr val="FFFFFF"/>
                </a:solidFill>
                <a:latin typeface="Microsoft YaHei"/>
              </a:rPr>
              <a:t>感谢各位老师的指导！</a:t>
            </a:r>
          </a:p>
        </p:txBody>
      </p:sp>
      <p:sp>
        <p:nvSpPr>
          <p:cNvPr id="8" name="Rectangle 7"/>
          <p:cNvSpPr/>
          <p:nvPr/>
        </p:nvSpPr>
        <p:spPr>
          <a:xfrm>
            <a:off x="3200400" y="3383280"/>
            <a:ext cx="2743200" cy="27432"/>
          </a:xfrm>
          <a:prstGeom prst="rect">
            <a:avLst/>
          </a:prstGeom>
          <a:solidFill>
            <a:srgbClr val="48C7DC"/>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p>
        </p:txBody>
      </p:sp>
      <p:sp>
        <p:nvSpPr>
          <p:cNvPr id="9" name="TextBox 8"/>
          <p:cNvSpPr txBox="1"/>
          <p:nvPr/>
        </p:nvSpPr>
        <p:spPr>
          <a:xfrm>
            <a:off x="1371600" y="3657600"/>
            <a:ext cx="6400800" cy="2286000"/>
          </a:xfrm>
          <a:prstGeom prst="rect">
            <a:avLst/>
          </a:prstGeom>
          <a:noFill/>
        </p:spPr>
        <p:txBody>
          <a:bodyPr wrap="square">
            <a:spAutoFit/>
          </a:bodyPr>
          <a:lstStyle/>
          <a:p>
            <a:pPr algn="ctr">
              <a:lnSpc>
                <a:spcPct val="150000"/>
              </a:lnSpc>
            </a:pPr>
            <a:r>
              <a:rPr sz="1800">
                <a:solidFill>
                  <a:srgbClr val="C8DCF0"/>
                </a:solidFill>
                <a:latin typeface="Microsoft YaHei"/>
              </a:rPr>
              <a:t>汪妍</a:t>
            </a:r>
          </a:p>
          <a:p>
            <a:pPr algn="ctr">
              <a:lnSpc>
                <a:spcPct val="150000"/>
              </a:lnSpc>
            </a:pPr>
            <a:r>
              <a:rPr sz="1800">
                <a:solidFill>
                  <a:srgbClr val="C8DCF0"/>
                </a:solidFill>
                <a:latin typeface="Microsoft YaHei"/>
              </a:rPr>
              <a:t>南京大学医学院附属鼓楼医院  泌尿外科</a:t>
            </a:r>
          </a:p>
          <a:p>
            <a:pPr algn="ctr">
              <a:lnSpc>
                <a:spcPct val="150000"/>
              </a:lnSpc>
            </a:pPr>
          </a:p>
          <a:p>
            <a:pPr algn="ctr">
              <a:lnSpc>
                <a:spcPct val="150000"/>
              </a:lnSpc>
            </a:pPr>
            <a:r>
              <a:rPr sz="1800">
                <a:solidFill>
                  <a:srgbClr val="C8DCF0"/>
                </a:solidFill>
                <a:latin typeface="Microsoft YaHei"/>
              </a:rPr>
              <a:t>电话：19905183012</a:t>
            </a:r>
          </a:p>
          <a:p>
            <a:pPr algn="ctr">
              <a:lnSpc>
                <a:spcPct val="150000"/>
              </a:lnSpc>
            </a:pPr>
            <a:r>
              <a:rPr sz="1800">
                <a:solidFill>
                  <a:srgbClr val="C8DCF0"/>
                </a:solidFill>
                <a:latin typeface="Microsoft YaHei"/>
              </a:rPr>
              <a:t>邮箱：793701633@qq.com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