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docProps/core.xml" ContentType="application/vnd.openxmlformats-package.core-properties+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standalone="yes"?>
<Relationships xmlns="http://schemas.openxmlformats.org/package/2006/relationships"><Relationship Id="rId2" Type="http://schemas.openxmlformats.org/package/2006/relationships/metadata/core-properties" Target="docProps/core.xml"/><Relationship Id="rId3" Type="http://schemas.openxmlformats.org/officeDocument/2006/relationships/extended-properties" Target="docProps/app.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3" autoAdjust="0"/>
    <p:restoredTop sz="94711" autoAdjust="0"/>
  </p:normalViewPr>
  <p:slideViewPr>
    <p:cSldViewPr snapToGrid="0" snapToObjects="1">
      <p:cViewPr varScale="1">
        <p:scale>
          <a:sx n="101" d="100"/>
          <a:sy n="101" d="100"/>
        </p:scale>
        <p:origin x="-1112" y="-1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presProps" Target="presProps.xml" /><Relationship Id="rId27" Type="http://schemas.openxmlformats.org/officeDocument/2006/relationships/viewProps" Target="viewProps.xml" /><Relationship Id="rId28" Type="http://schemas.openxmlformats.org/officeDocument/2006/relationships/theme" Target="theme/theme1.xml" /><Relationship Id="rId29" Type="http://schemas.openxmlformats.org/officeDocument/2006/relationships/tableStyles" Target="tableStyles.xml" /><Relationship Id="rId1" Type="http://schemas.openxmlformats.org/officeDocument/2006/relationships/slideMaster" Target="slideMasters/slideMaster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6/5/17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6/5/17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41EB5C9-1307-BA42-ABA2-0BC069CD8E7F}" type="datetimeFigureOut">
              <a:rPr lang="en-US" smtClean="0"/>
              <a:t>6/5/17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1EB5C9-1307-BA42-ABA2-0BC069CD8E7F}" type="datetimeFigureOut">
              <a:rPr lang="en-US" smtClean="0"/>
              <a:t>6/5/17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41EB5C9-1307-BA42-ABA2-0BC069CD8E7F}" type="datetimeFigureOut">
              <a:rPr lang="en-US" smtClean="0"/>
              <a:t>6/5/17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6/5/17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6/5/17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41EB5C9-1307-BA42-ABA2-0BC069CD8E7F}" type="datetimeFigureOut">
              <a:rPr lang="en-US" smtClean="0"/>
              <a:t>6/5/17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1EB5C9-1307-BA42-ABA2-0BC069CD8E7F}" type="datetimeFigureOut">
              <a:rPr lang="en-US" smtClean="0"/>
              <a:t>6/5/17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基于时效性激励理论的护理干预在经尿道前列腺热蒸汽消融术患者的应用效果研究</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投稿论文汇报（复试版）</a:t>
            </a:r>
          </a:p>
          <a:p>
            <a:pPr lvl="1"/>
            <a:r>
              <a:rPr/>
              <a:t>汇报人：汪妍</a:t>
            </a:r>
          </a:p>
          <a:p>
            <a:pPr lvl="1"/>
            <a:r>
              <a:rPr/>
              <a:t>单位：南京大学医学院附属鼓楼医院</a:t>
            </a:r>
            <a:r>
              <a:rPr/>
              <a:t> </a:t>
            </a:r>
            <a:r>
              <a:rPr/>
              <a:t>泌尿外科</a:t>
            </a:r>
          </a:p>
          <a:p>
            <a:pPr lvl="1"/>
            <a:r>
              <a:rPr/>
              <a:t>开场30秒说明研究背景与临床价值。</a:t>
            </a:r>
          </a:p>
          <a:p>
            <a:pPr lvl="1"/>
            <a:r>
              <a:rPr/>
              <a:t>一句话点明：这是可落地的术后护理改进方案。</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研究问题与临床痛点</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BPH患者术后常见问题：疼痛、焦虑、控尿困难、依从性不足。</a:t>
            </a:r>
          </a:p>
          <a:p>
            <a:pPr lvl="1"/>
            <a:r>
              <a:rPr/>
              <a:t>Rezum疗效确切，但术后护理质量决定恢复速度与体验。</a:t>
            </a:r>
          </a:p>
          <a:p>
            <a:pPr lvl="1"/>
            <a:r>
              <a:rPr/>
              <a:t>传统护理难以覆盖关键时点的行为激励与心理支持。</a:t>
            </a:r>
          </a:p>
          <a:p>
            <a:pPr lvl="1"/>
            <a:r>
              <a:rPr/>
              <a:t>强调</a:t>
            </a:r>
            <a:r>
              <a:rPr/>
              <a:t>共同决定结局。</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研究目的与核心假设</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研究目的：</a:t>
            </a:r>
            <a:r>
              <a:rPr b="1"/>
              <a:t>基于时效性激励理论实施护理干预，探讨其在经尿道前列腺热蒸汽消融术患者中的应用效果。</a:t>
            </a:r>
          </a:p>
          <a:p>
            <a:pPr lvl="1"/>
            <a:r>
              <a:rPr/>
              <a:t>核心假设：在关键时点给予精准激励，可改善症状与心理状态。</a:t>
            </a:r>
          </a:p>
          <a:p>
            <a:pPr lvl="1"/>
            <a:r>
              <a:rPr/>
              <a:t>关键词：</a:t>
            </a:r>
          </a:p>
          <a:p>
            <a:pPr lvl="1"/>
            <a:r>
              <a:rPr/>
              <a:t>把</a:t>
            </a:r>
            <a:r>
              <a:rPr/>
              <a:t>解释为干预时机匹配，而非单纯增加护理工作量。</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研究设计与样本</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研究类型：随机对照研究（单中心），总样本</a:t>
            </a:r>
            <a:r>
              <a:rPr/>
              <a:t> </a:t>
            </a:r>
            <a:r>
              <a:rPr/>
              <a:t>n=100。</a:t>
            </a:r>
          </a:p>
          <a:p>
            <a:pPr lvl="1"/>
            <a:r>
              <a:rPr/>
              <a:t>分组：观察组</a:t>
            </a:r>
            <a:r>
              <a:rPr/>
              <a:t> </a:t>
            </a:r>
            <a:r>
              <a:rPr/>
              <a:t>50</a:t>
            </a:r>
            <a:r>
              <a:rPr/>
              <a:t> </a:t>
            </a:r>
            <a:r>
              <a:rPr/>
              <a:t>例；对照组</a:t>
            </a:r>
            <a:r>
              <a:rPr/>
              <a:t> </a:t>
            </a:r>
            <a:r>
              <a:rPr/>
              <a:t>50</a:t>
            </a:r>
            <a:r>
              <a:rPr/>
              <a:t> </a:t>
            </a:r>
            <a:r>
              <a:rPr/>
              <a:t>例。</a:t>
            </a:r>
          </a:p>
          <a:p>
            <a:pPr lvl="1"/>
            <a:r>
              <a:rPr/>
              <a:t>观察指标：IPSS、控尿能力、VAS、SAS/SDS、满意度、依从性。</a:t>
            </a:r>
          </a:p>
          <a:p>
            <a:pPr lvl="1"/>
            <a:r>
              <a:rPr/>
              <a:t>提及伦理批准号与知情同意，体现规范性。</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干预方案：时效性激励护理</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对照组：常规围术期护理。</a:t>
            </a:r>
          </a:p>
          <a:p>
            <a:pPr lvl="1"/>
            <a:r>
              <a:rPr/>
              <a:t>观察组：常规护理</a:t>
            </a:r>
            <a:r>
              <a:rPr/>
              <a:t> </a:t>
            </a:r>
            <a:r>
              <a:rPr/>
              <a:t>+</a:t>
            </a:r>
            <a:r>
              <a:rPr/>
              <a:t> </a:t>
            </a:r>
            <a:r>
              <a:rPr/>
              <a:t>需要激励</a:t>
            </a:r>
            <a:r>
              <a:rPr/>
              <a:t> </a:t>
            </a:r>
            <a:r>
              <a:rPr/>
              <a:t>+</a:t>
            </a:r>
            <a:r>
              <a:rPr/>
              <a:t> </a:t>
            </a:r>
            <a:r>
              <a:rPr/>
              <a:t>利益激励</a:t>
            </a:r>
            <a:r>
              <a:rPr/>
              <a:t> </a:t>
            </a:r>
            <a:r>
              <a:rPr/>
              <a:t>+</a:t>
            </a:r>
            <a:r>
              <a:rPr/>
              <a:t> </a:t>
            </a:r>
            <a:r>
              <a:rPr/>
              <a:t>情感激励</a:t>
            </a:r>
            <a:r>
              <a:rPr/>
              <a:t> </a:t>
            </a:r>
            <a:r>
              <a:rPr/>
              <a:t>+</a:t>
            </a:r>
            <a:r>
              <a:rPr/>
              <a:t> </a:t>
            </a:r>
            <a:r>
              <a:rPr/>
              <a:t>榜样激励。</a:t>
            </a:r>
          </a:p>
          <a:p>
            <a:pPr lvl="1"/>
            <a:r>
              <a:rPr/>
              <a:t>关键节点覆盖：术前-术后早期-居家恢复期。</a:t>
            </a:r>
          </a:p>
          <a:p>
            <a:pPr lvl="1"/>
            <a:r>
              <a:rPr/>
              <a:t>突出</a:t>
            </a:r>
            <a:r>
              <a:rPr/>
              <a:t>闭环，而非单次宣教。</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主要结果总览</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结果摘要：**术前两组患者IPSS评分、控尿能力、负性心态评分（SAS、SDS）、及VAS评分比较差异均无统计学意义（</a:t>
            </a:r>
            <a:r>
              <a:rPr i="1"/>
              <a:t>P</a:t>
            </a:r>
            <a:r>
              <a:rPr/>
              <a:t>＞0.05）。术后1个月，观察组IPSS评分和SAS、SDS评分…</a:t>
            </a:r>
          </a:p>
          <a:p>
            <a:pPr lvl="1"/>
            <a:r>
              <a:rPr/>
              <a:t>术后1个月：IPSS、SAS、SDS差异显著（文中报道</a:t>
            </a:r>
            <a:r>
              <a:rPr/>
              <a:t> </a:t>
            </a:r>
            <a:r>
              <a:rPr/>
              <a:t>P&lt;0.001）。</a:t>
            </a:r>
          </a:p>
          <a:p>
            <a:pPr lvl="1"/>
            <a:r>
              <a:rPr/>
              <a:t>术后1日/1周：VAS显著下降（文中报道</a:t>
            </a:r>
            <a:r>
              <a:rPr/>
              <a:t> </a:t>
            </a:r>
            <a:r>
              <a:rPr/>
              <a:t>P&lt;0.001）。</a:t>
            </a:r>
          </a:p>
          <a:p>
            <a:pPr lvl="1"/>
            <a:r>
              <a:rPr/>
              <a:t>这一页只给方向性结论，下一页给关键数值。</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关键数值：疼痛与满意度</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VAS（对照组，术后当天/第1天/第1周）：5.24±2.66</a:t>
            </a:r>
            <a:r>
              <a:rPr/>
              <a:t> </a:t>
            </a:r>
            <a:r>
              <a:rPr/>
              <a:t>/</a:t>
            </a:r>
            <a:r>
              <a:rPr/>
              <a:t> </a:t>
            </a:r>
            <a:r>
              <a:rPr/>
              <a:t>4.77±2.45</a:t>
            </a:r>
            <a:r>
              <a:rPr/>
              <a:t> </a:t>
            </a:r>
            <a:r>
              <a:rPr/>
              <a:t>/</a:t>
            </a:r>
            <a:r>
              <a:rPr/>
              <a:t> </a:t>
            </a:r>
            <a:r>
              <a:rPr/>
              <a:t>3.12±1.03</a:t>
            </a:r>
          </a:p>
          <a:p>
            <a:pPr lvl="1"/>
            <a:r>
              <a:rPr/>
              <a:t>VAS（观察组，术后当天/第1天/第1周）：3.15±2.02</a:t>
            </a:r>
            <a:r>
              <a:rPr/>
              <a:t> </a:t>
            </a:r>
            <a:r>
              <a:rPr/>
              <a:t>/</a:t>
            </a:r>
            <a:r>
              <a:rPr/>
              <a:t> </a:t>
            </a:r>
            <a:r>
              <a:rPr/>
              <a:t>3.23±1.33</a:t>
            </a:r>
            <a:r>
              <a:rPr/>
              <a:t> </a:t>
            </a:r>
            <a:r>
              <a:rPr/>
              <a:t>/</a:t>
            </a:r>
            <a:r>
              <a:rPr/>
              <a:t> </a:t>
            </a:r>
            <a:r>
              <a:rPr/>
              <a:t>1.16±0.66</a:t>
            </a:r>
          </a:p>
          <a:p>
            <a:pPr lvl="1"/>
            <a:r>
              <a:rPr/>
              <a:t>护理总满意度：观察组</a:t>
            </a:r>
            <a:r>
              <a:rPr/>
              <a:t> </a:t>
            </a:r>
            <a:r>
              <a:rPr/>
              <a:t>100%</a:t>
            </a:r>
            <a:r>
              <a:rPr/>
              <a:t> </a:t>
            </a:r>
            <a:r>
              <a:rPr/>
              <a:t>vs</a:t>
            </a:r>
            <a:r>
              <a:rPr/>
              <a:t> </a:t>
            </a:r>
            <a:r>
              <a:rPr/>
              <a:t>对照组</a:t>
            </a:r>
            <a:r>
              <a:rPr/>
              <a:t> </a:t>
            </a:r>
            <a:r>
              <a:rPr/>
              <a:t>84%。</a:t>
            </a:r>
          </a:p>
          <a:p>
            <a:pPr lvl="1"/>
            <a:r>
              <a:rPr/>
              <a:t>若最终投稿表格有更新，口头以最终表格为准。</a:t>
            </a:r>
          </a:p>
          <a:p>
            <a:pPr lvl="1"/>
            <a:r>
              <a:rPr/>
              <a:t>建议在正式版PPT插入柱状图提升可读性。</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依从性与行为改变</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观察组在情绪管理、饮食控制、戒烟戒酒、及时用药、功能锻炼方面均优于对照组。</a:t>
            </a:r>
          </a:p>
          <a:p>
            <a:pPr lvl="1"/>
            <a:r>
              <a:rPr/>
              <a:t>提示干预不仅改善短期症状，也改善长期行为执行。</a:t>
            </a:r>
          </a:p>
          <a:p>
            <a:pPr lvl="1"/>
            <a:r>
              <a:rPr/>
              <a:t>临床意义：可复制到其他术后康复路径管理场景。</a:t>
            </a:r>
          </a:p>
          <a:p>
            <a:pPr lvl="1"/>
            <a:r>
              <a:rPr/>
              <a:t>这页对应复试老师常问的</a:t>
            </a:r>
            <a: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机制解释与临床价值</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机制层面：关键时机激励提升患者自我效能与康复参与度。</a:t>
            </a:r>
          </a:p>
          <a:p>
            <a:pPr lvl="1"/>
            <a:r>
              <a:rPr/>
              <a:t>护理价值：改善症状</a:t>
            </a:r>
            <a:r>
              <a:rPr/>
              <a:t> </a:t>
            </a:r>
            <a:r>
              <a:rPr/>
              <a:t>+</a:t>
            </a:r>
            <a:r>
              <a:rPr/>
              <a:t> </a:t>
            </a:r>
            <a:r>
              <a:rPr/>
              <a:t>缓解负性情绪</a:t>
            </a:r>
            <a:r>
              <a:rPr/>
              <a:t> </a:t>
            </a:r>
            <a:r>
              <a:rPr/>
              <a:t>+</a:t>
            </a:r>
            <a:r>
              <a:rPr/>
              <a:t> </a:t>
            </a:r>
            <a:r>
              <a:rPr/>
              <a:t>提升满意度与依从性。</a:t>
            </a:r>
          </a:p>
          <a:p>
            <a:pPr lvl="1"/>
            <a:r>
              <a:rPr/>
              <a:t>管理价值：形成标准化、可执行、可评估的护理闭环。</a:t>
            </a:r>
          </a:p>
          <a:p>
            <a:pPr lvl="1"/>
            <a:r>
              <a:rPr/>
              <a:t>用</a:t>
            </a:r>
            <a:r>
              <a:rPr/>
              <a:t>三段式回答研究意义。</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研究局限与改进方向</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局限：单中心、样本量中等、随访时间较短。</a:t>
            </a:r>
          </a:p>
          <a:p>
            <a:pPr lvl="1"/>
            <a:r>
              <a:rPr/>
              <a:t>后续：多中心扩大样本，延长随访，强化量表与客观指标联动。</a:t>
            </a:r>
          </a:p>
          <a:p>
            <a:pPr lvl="1"/>
            <a:r>
              <a:rPr/>
              <a:t>计划：在硕士阶段延展到肿瘤护理与长期症状管理场景。</a:t>
            </a:r>
          </a:p>
          <a:p>
            <a:pPr lvl="1"/>
            <a:r>
              <a:rPr/>
              <a:t>主动讲局限会加分，体现科研审慎性。</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复试可能提问与应答</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Q1：为什么选择时效性激励理论？</a:t>
            </a:r>
          </a:p>
          <a:p>
            <a:pPr lvl="1"/>
            <a:r>
              <a:rPr/>
              <a:t>A1：它直接面向</a:t>
            </a:r>
            <a:r>
              <a:rPr/>
              <a:t>，契合术后康复需求。</a:t>
            </a:r>
          </a:p>
          <a:p>
            <a:pPr lvl="1"/>
            <a:r>
              <a:rPr/>
              <a:t>Q2：如何控制偏倚？</a:t>
            </a:r>
          </a:p>
          <a:p>
            <a:pPr lvl="1"/>
            <a:r>
              <a:rPr/>
              <a:t>A2：随机分组、统一评估时点、量表与客观指标结合。</a:t>
            </a:r>
          </a:p>
          <a:p>
            <a:pPr lvl="1"/>
            <a:r>
              <a:rPr/>
              <a:t>Q3：如何与未来导师方向衔接？</a:t>
            </a:r>
          </a:p>
          <a:p>
            <a:pPr lvl="1"/>
            <a:r>
              <a:rPr/>
              <a:t>A3：将该干预框架迁移到肿瘤患者症状管理与心理支持。</a:t>
            </a:r>
          </a:p>
          <a:p>
            <a:pPr lvl="1"/>
            <a:r>
              <a:rPr/>
              <a:t>最后30秒请老师提问，过渡自然。</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p>
            <a:pPr lvl="0" marL="0" indent="0">
              <a:buNone/>
            </a:pPr>
            <a:r>
              <a:rPr/>
              <a:t>结论与致谢</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a:t>结论：**基于时效性激励理论的护理干预对行经尿道前列腺热蒸汽消融术患者的前列腺症状与焦虑情绪均产生显著改善作用，时效性激励护理在提升患者依从性，改善术后排尿情况及提高护理满意度具有积极…</a:t>
            </a:r>
          </a:p>
          <a:p>
            <a:pPr lvl="1"/>
            <a:r>
              <a:rPr/>
              <a:t>核心贡献：提出可执行的术后激励护理路径。</a:t>
            </a:r>
          </a:p>
          <a:p>
            <a:pPr lvl="1"/>
            <a:r>
              <a:rPr/>
              <a:t>感谢各位老师指正。</a:t>
            </a:r>
          </a:p>
          <a:p>
            <a:pPr lvl="1"/>
            <a:r>
              <a:rPr/>
              <a:t>收束：贡献一句话</a:t>
            </a:r>
            <a:r>
              <a:rPr/>
              <a:t> </a:t>
            </a:r>
            <a:r>
              <a:rPr/>
              <a:t>+</a:t>
            </a:r>
            <a:r>
              <a:rPr/>
              <a:t> </a:t>
            </a:r>
            <a:r>
              <a:rPr/>
              <a:t>谢谢。</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8</Words>
  <Application>Microsoft Macintosh PowerPoint</Application>
  <PresentationFormat>On-screen Show (4:3)</PresentationFormat>
  <Paragraphs>4</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Title</vt:lpstr>
      <vt:lpstr>Slide Title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Jesse Rosenthal</dc:creator>
  <cp:lastModifiedBy>Jesse Rosenthal</cp:lastModifiedBy>
  <cp:revision>1</cp:revision>
  <dcterms:created xsi:type="dcterms:W3CDTF">2017-06-05T14:10:58Z</dcterms:created>
  <dcterms:modified xsi:type="dcterms:W3CDTF">2017-06-05T14:12:07Z</dcterms:modified>
</cp:coreProperties>
</file>