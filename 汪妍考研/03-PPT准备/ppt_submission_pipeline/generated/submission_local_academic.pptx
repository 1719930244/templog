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VAS变化趋势（分）</a:t>
            </a:r>
          </a:p>
        </c:rich>
      </c:tx>
      <c:layout/>
      <c:overlay val="0"/>
    </c:title>
    <c:autoTitleDeleted val="0"/>
    <c:plotArea>
      <c:lineChart>
        <c:grouping val="standard"/>
        <c:varyColors val="0"/>
        <c:ser>
          <c:idx val="0"/>
          <c:order val="0"/>
          <c:tx>
            <c:strRef>
              <c:f>Sheet1!$B$1</c:f>
              <c:strCache>
                <c:ptCount val="1"/>
                <c:pt idx="0">
                  <c:v>对照组</c:v>
                </c:pt>
              </c:strCache>
            </c:strRef>
          </c:tx>
          <c:cat>
            <c:strRef>
              <c:f>Sheet1!$A$2:$A$4</c:f>
              <c:strCache>
                <c:ptCount val="3"/>
                <c:pt idx="0">
                  <c:v>术后当天</c:v>
                </c:pt>
                <c:pt idx="1">
                  <c:v>术后第1天</c:v>
                </c:pt>
                <c:pt idx="2">
                  <c:v>术后第1周</c:v>
                </c:pt>
              </c:strCache>
            </c:strRef>
          </c:cat>
          <c:val>
            <c:numRef>
              <c:f>Sheet1!$B$2:$B$4</c:f>
              <c:numCache>
                <c:formatCode>General</c:formatCode>
                <c:ptCount val="3"/>
                <c:pt idx="0">
                  <c:v>5.24</c:v>
                </c:pt>
                <c:pt idx="1">
                  <c:v>4.77</c:v>
                </c:pt>
                <c:pt idx="2">
                  <c:v>3.12</c:v>
                </c:pt>
              </c:numCache>
            </c:numRef>
          </c:val>
          <c:smooth val="0"/>
        </c:ser>
        <c:ser>
          <c:idx val="1"/>
          <c:order val="1"/>
          <c:tx>
            <c:strRef>
              <c:f>Sheet1!$C$1</c:f>
              <c:strCache>
                <c:ptCount val="1"/>
                <c:pt idx="0">
                  <c:v>观察组</c:v>
                </c:pt>
              </c:strCache>
            </c:strRef>
          </c:tx>
          <c:cat>
            <c:strRef>
              <c:f>Sheet1!$A$2:$A$4</c:f>
              <c:strCache>
                <c:ptCount val="3"/>
                <c:pt idx="0">
                  <c:v>术后当天</c:v>
                </c:pt>
                <c:pt idx="1">
                  <c:v>术后第1天</c:v>
                </c:pt>
                <c:pt idx="2">
                  <c:v>术后第1周</c:v>
                </c:pt>
              </c:strCache>
            </c:strRef>
          </c:cat>
          <c:val>
            <c:numRef>
              <c:f>Sheet1!$C$2:$C$4</c:f>
              <c:numCache>
                <c:formatCode>General</c:formatCode>
                <c:ptCount val="3"/>
                <c:pt idx="0">
                  <c:v>3.15</c:v>
                </c:pt>
                <c:pt idx="1">
                  <c:v>3.23</c:v>
                </c:pt>
                <c:pt idx="2">
                  <c:v>1.16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max val="6.0"/>
          <c:min val="0.0"/>
        </c:scaling>
        <c:delete val="0"/>
        <c:axPos val="l"/>
        <c:majorGridlines/>
        <c:majorTickMark val="out"/>
        <c:minorTickMark val="none"/>
        <c:tickLblPos val="nextTo"/>
        <c:crossAx val="2118791784"/>
        <c:crosses val="autoZero"/>
        <c:majorUnit val="1.0"/>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护理总满意度（%）</a:t>
            </a:r>
          </a:p>
        </c:rich>
      </c:tx>
      <c:layout/>
      <c:overlay val="0"/>
    </c:title>
    <c:autoTitleDeleted val="0"/>
    <c:plotArea>
      <c:barChart>
        <c:barDir val="col"/>
        <c:grouping val="clustered"/>
        <c:ser>
          <c:idx val="0"/>
          <c:order val="0"/>
          <c:tx>
            <c:strRef>
              <c:f>Sheet1!$B$1</c:f>
              <c:strCache>
                <c:ptCount val="1"/>
                <c:pt idx="0">
                  <c:v>对照组</c:v>
                </c:pt>
              </c:strCache>
            </c:strRef>
          </c:tx>
          <c:cat>
            <c:strRef>
              <c:f>Sheet1!$A$2:$A$2</c:f>
              <c:strCache>
                <c:ptCount val="1"/>
                <c:pt idx="0">
                  <c:v>护理总满意度</c:v>
                </c:pt>
              </c:strCache>
            </c:strRef>
          </c:cat>
          <c:val>
            <c:numRef>
              <c:f>Sheet1!$B$2:$B$2</c:f>
              <c:numCache>
                <c:formatCode>General</c:formatCode>
                <c:ptCount val="1"/>
                <c:pt idx="0">
                  <c:v>84.0</c:v>
                </c:pt>
              </c:numCache>
            </c:numRef>
          </c:val>
        </c:ser>
        <c:ser>
          <c:idx val="1"/>
          <c:order val="1"/>
          <c:tx>
            <c:strRef>
              <c:f>Sheet1!$C$1</c:f>
              <c:strCache>
                <c:ptCount val="1"/>
                <c:pt idx="0">
                  <c:v>观察组</c:v>
                </c:pt>
              </c:strCache>
            </c:strRef>
          </c:tx>
          <c:cat>
            <c:strRef>
              <c:f>Sheet1!$A$2:$A$2</c:f>
              <c:strCache>
                <c:ptCount val="1"/>
                <c:pt idx="0">
                  <c:v>护理总满意度</c:v>
                </c:pt>
              </c:strCache>
            </c:strRef>
          </c:cat>
          <c:val>
            <c:numRef>
              <c:f>Sheet1!$C$2:$C$2</c:f>
              <c:numCache>
                <c:formatCode>General</c:formatCode>
                <c:ptCount val="1"/>
                <c:pt idx="0">
                  <c:v>100.0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crossAx val="-2068027336"/>
        <c:crosses val="autoZero"/>
        <c:majorUnit val="20.0"/>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t>依从性分项对比（分）</a:t>
            </a:r>
          </a:p>
        </c:rich>
      </c:tx>
      <c:layout/>
      <c:overlay val="0"/>
    </c:title>
    <c:autoTitleDeleted val="0"/>
    <c:plotArea>
      <c:barChart>
        <c:barDir val="col"/>
        <c:grouping val="clustered"/>
        <c:ser>
          <c:idx val="0"/>
          <c:order val="0"/>
          <c:tx>
            <c:strRef>
              <c:f>Sheet1!$B$1</c:f>
              <c:strCache>
                <c:ptCount val="1"/>
                <c:pt idx="0">
                  <c:v>对照组</c:v>
                </c:pt>
              </c:strCache>
            </c:strRef>
          </c:tx>
          <c:cat>
            <c:strRef>
              <c:f>Sheet1!$A$2:$A$6</c:f>
              <c:strCache>
                <c:ptCount val="5"/>
                <c:pt idx="0">
                  <c:v>情绪管理</c:v>
                </c:pt>
                <c:pt idx="1">
                  <c:v>饮食控制</c:v>
                </c:pt>
                <c:pt idx="2">
                  <c:v>戒烟戒酒</c:v>
                </c:pt>
                <c:pt idx="3">
                  <c:v>及时用药</c:v>
                </c:pt>
                <c:pt idx="4">
                  <c:v>功能锻炼</c:v>
                </c:pt>
              </c:strCache>
            </c:strRef>
          </c:cat>
          <c:val>
            <c:numRef>
              <c:f>Sheet1!$B$2:$B$6</c:f>
              <c:numCache>
                <c:formatCode>General</c:formatCode>
                <c:ptCount val="5"/>
                <c:pt idx="0">
                  <c:v>6.83</c:v>
                </c:pt>
                <c:pt idx="1">
                  <c:v>5.89</c:v>
                </c:pt>
                <c:pt idx="2">
                  <c:v>5.01</c:v>
                </c:pt>
                <c:pt idx="3">
                  <c:v>7.53</c:v>
                </c:pt>
                <c:pt idx="4">
                  <c:v>7.54</c:v>
                </c:pt>
              </c:numCache>
            </c:numRef>
          </c:val>
        </c:ser>
        <c:ser>
          <c:idx val="1"/>
          <c:order val="1"/>
          <c:tx>
            <c:strRef>
              <c:f>Sheet1!$C$1</c:f>
              <c:strCache>
                <c:ptCount val="1"/>
                <c:pt idx="0">
                  <c:v>观察组</c:v>
                </c:pt>
              </c:strCache>
            </c:strRef>
          </c:tx>
          <c:cat>
            <c:strRef>
              <c:f>Sheet1!$A$2:$A$6</c:f>
              <c:strCache>
                <c:ptCount val="5"/>
                <c:pt idx="0">
                  <c:v>情绪管理</c:v>
                </c:pt>
                <c:pt idx="1">
                  <c:v>饮食控制</c:v>
                </c:pt>
                <c:pt idx="2">
                  <c:v>戒烟戒酒</c:v>
                </c:pt>
                <c:pt idx="3">
                  <c:v>及时用药</c:v>
                </c:pt>
                <c:pt idx="4">
                  <c:v>功能锻炼</c:v>
                </c:pt>
              </c:strCache>
            </c:strRef>
          </c:cat>
          <c:val>
            <c:numRef>
              <c:f>Sheet1!$C$2:$C$6</c:f>
              <c:numCache>
                <c:formatCode>General</c:formatCode>
                <c:ptCount val="5"/>
                <c:pt idx="0">
                  <c:v>8.88</c:v>
                </c:pt>
                <c:pt idx="1">
                  <c:v>7.04</c:v>
                </c:pt>
                <c:pt idx="2">
                  <c:v>7.89</c:v>
                </c:pt>
                <c:pt idx="3">
                  <c:v>8.87</c:v>
                </c:pt>
                <c:pt idx="4">
                  <c:v>8.89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0.0"/>
          <c:min val="0.0"/>
        </c:scaling>
        <c:delete val="0"/>
        <c:axPos val="l"/>
        <c:majorGridlines/>
        <c:majorTickMark val="out"/>
        <c:minorTickMark val="none"/>
        <c:tickLblPos val="nextTo"/>
        <c:crossAx val="-2068027336"/>
        <c:crosses val="autoZero"/>
        <c:majorUnit val="2.0"/>
      </c:valAx>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94944"/>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51560"/>
            <a:ext cx="82296" cy="2788920"/>
          </a:xfrm>
          <a:prstGeom prst="rect">
            <a:avLst/>
          </a:prstGeom>
          <a:solidFill>
            <a:srgbClr val="5B6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987552"/>
            <a:ext cx="10515600" cy="3063240"/>
          </a:xfrm>
          <a:prstGeom prst="rect">
            <a:avLst/>
          </a:prstGeom>
          <a:noFill/>
        </p:spPr>
        <p:txBody>
          <a:bodyPr wrap="none">
            <a:spAutoFit/>
          </a:bodyPr>
          <a:lstStyle/>
          <a:p>
            <a:pPr>
              <a:lnSpc>
                <a:spcPct val="112000"/>
              </a:lnSpc>
              <a:defRPr sz="4000" b="1">
                <a:solidFill>
                  <a:srgbClr val="152D50"/>
                </a:solidFill>
                <a:latin typeface="Microsoft YaHei"/>
              </a:defRPr>
            </a:pPr>
            <a:r>
              <a:t>基于时效性激励理论的护理干预在经尿道前列腺热蒸汽消融术患者的应用效果研究</a:t>
            </a:r>
          </a:p>
          <a:p>
            <a:pPr>
              <a:spcBef>
                <a:spcPts val="2000"/>
              </a:spcBef>
              <a:defRPr sz="2100">
                <a:solidFill>
                  <a:srgbClr val="5B6E87"/>
                </a:solidFill>
                <a:latin typeface="Times New Roman"/>
              </a:defRPr>
            </a:pPr>
            <a:r>
              <a:t>硕士复试学术汇报</a:t>
            </a:r>
          </a:p>
        </p:txBody>
      </p:sp>
      <p:sp>
        <p:nvSpPr>
          <p:cNvPr id="5" name="Rectangle 4"/>
          <p:cNvSpPr/>
          <p:nvPr/>
        </p:nvSpPr>
        <p:spPr>
          <a:xfrm>
            <a:off x="731520" y="5166360"/>
            <a:ext cx="10789920"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321808"/>
            <a:ext cx="10789920" cy="914400"/>
          </a:xfrm>
          <a:prstGeom prst="rect">
            <a:avLst/>
          </a:prstGeom>
          <a:noFill/>
        </p:spPr>
        <p:txBody>
          <a:bodyPr wrap="none">
            <a:spAutoFit/>
          </a:bodyPr>
          <a:lstStyle/>
          <a:p>
            <a:pPr>
              <a:defRPr sz="1800" b="0">
                <a:solidFill>
                  <a:srgbClr val="23272B"/>
                </a:solidFill>
                <a:latin typeface="Microsoft YaHei"/>
              </a:defRPr>
            </a:pPr>
            <a:r>
              <a:t>汇报人：汪妍    |    南京大学医学院附属鼓楼医院 泌尿外科</a:t>
            </a:r>
          </a:p>
        </p:txBody>
      </p:sp>
      <p:sp>
        <p:nvSpPr>
          <p:cNvPr id="7" name="Rounded Rectangle 6"/>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1/12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研究问题与临床痛点</a:t>
            </a:r>
          </a:p>
        </p:txBody>
      </p:sp>
      <p:sp>
        <p:nvSpPr>
          <p:cNvPr id="5" name="TextBox 4"/>
          <p:cNvSpPr txBox="1"/>
          <p:nvPr/>
        </p:nvSpPr>
        <p:spPr>
          <a:xfrm>
            <a:off x="868680" y="1261872"/>
            <a:ext cx="10332720" cy="5212080"/>
          </a:xfrm>
          <a:prstGeom prst="rect">
            <a:avLst/>
          </a:prstGeom>
          <a:noFill/>
        </p:spPr>
        <p:txBody>
          <a:bodyPr wrap="square">
            <a:spAutoFit/>
          </a:bodyPr>
          <a:lstStyle/>
          <a:p>
            <a:pPr>
              <a:lnSpc>
                <a:spcPct val="125000"/>
              </a:lnSpc>
              <a:spcAft>
                <a:spcPts val="1000"/>
              </a:spcAft>
              <a:defRPr sz="2200">
                <a:solidFill>
                  <a:srgbClr val="23272B"/>
                </a:solidFill>
                <a:latin typeface="Microsoft YaHei"/>
              </a:defRPr>
            </a:pPr>
            <a:r>
              <a:t>• BPH患者术后常见问题：疼痛、焦虑、控尿困难、依从性不足。</a:t>
            </a:r>
          </a:p>
          <a:p>
            <a:pPr>
              <a:lnSpc>
                <a:spcPct val="125000"/>
              </a:lnSpc>
              <a:spcAft>
                <a:spcPts val="1000"/>
              </a:spcAft>
              <a:defRPr sz="2200">
                <a:solidFill>
                  <a:srgbClr val="23272B"/>
                </a:solidFill>
                <a:latin typeface="Microsoft YaHei"/>
              </a:defRPr>
            </a:pPr>
            <a:r>
              <a:t>• Rezum疗效确切，但术后护理质量决定恢复速度与体验。</a:t>
            </a:r>
          </a:p>
          <a:p>
            <a:pPr>
              <a:lnSpc>
                <a:spcPct val="125000"/>
              </a:lnSpc>
              <a:spcAft>
                <a:spcPts val="1000"/>
              </a:spcAft>
              <a:defRPr sz="2200">
                <a:solidFill>
                  <a:srgbClr val="23272B"/>
                </a:solidFill>
                <a:latin typeface="Microsoft YaHei"/>
              </a:defRPr>
            </a:pPr>
            <a:r>
              <a:t>• 传统护理难以覆盖关键时点的行为激励与心理支持。</a:t>
            </a:r>
          </a:p>
        </p:txBody>
      </p:sp>
      <p:sp>
        <p:nvSpPr>
          <p:cNvPr id="6" name="Rounded Rectangle 5"/>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2/12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研究目的与核心假设</a:t>
            </a:r>
          </a:p>
        </p:txBody>
      </p:sp>
      <p:sp>
        <p:nvSpPr>
          <p:cNvPr id="5" name="TextBox 4"/>
          <p:cNvSpPr txBox="1"/>
          <p:nvPr/>
        </p:nvSpPr>
        <p:spPr>
          <a:xfrm>
            <a:off x="868680" y="1261872"/>
            <a:ext cx="10332720" cy="5212080"/>
          </a:xfrm>
          <a:prstGeom prst="rect">
            <a:avLst/>
          </a:prstGeom>
          <a:noFill/>
        </p:spPr>
        <p:txBody>
          <a:bodyPr wrap="square">
            <a:spAutoFit/>
          </a:bodyPr>
          <a:lstStyle/>
          <a:p>
            <a:pPr>
              <a:lnSpc>
                <a:spcPct val="125000"/>
              </a:lnSpc>
              <a:spcAft>
                <a:spcPts val="1000"/>
              </a:spcAft>
              <a:defRPr sz="2200">
                <a:solidFill>
                  <a:srgbClr val="23272B"/>
                </a:solidFill>
                <a:latin typeface="Microsoft YaHei"/>
              </a:defRPr>
            </a:pPr>
            <a:r>
              <a:t>• 研究目的：**基于时效性激励理论实施护理干预，探讨其在经尿道前列腺热蒸汽消融术患者中的应用效果。**</a:t>
            </a:r>
          </a:p>
          <a:p>
            <a:pPr>
              <a:lnSpc>
                <a:spcPct val="125000"/>
              </a:lnSpc>
              <a:spcAft>
                <a:spcPts val="1000"/>
              </a:spcAft>
              <a:defRPr sz="2200">
                <a:solidFill>
                  <a:srgbClr val="23272B"/>
                </a:solidFill>
                <a:latin typeface="Microsoft YaHei"/>
              </a:defRPr>
            </a:pPr>
            <a:r>
              <a:t>• 核心假设：在关键时点给予精准激励，可改善症状与心理状态。</a:t>
            </a:r>
          </a:p>
          <a:p>
            <a:pPr>
              <a:lnSpc>
                <a:spcPct val="125000"/>
              </a:lnSpc>
              <a:spcAft>
                <a:spcPts val="1000"/>
              </a:spcAft>
              <a:defRPr sz="2200">
                <a:solidFill>
                  <a:srgbClr val="23272B"/>
                </a:solidFill>
                <a:latin typeface="Microsoft YaHei"/>
              </a:defRPr>
            </a:pPr>
            <a:r>
              <a:t>• 关键词：</a:t>
            </a:r>
          </a:p>
        </p:txBody>
      </p:sp>
      <p:sp>
        <p:nvSpPr>
          <p:cNvPr id="6" name="Rounded Rectangle 5"/>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3/12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研究设计与样本</a:t>
            </a:r>
          </a:p>
        </p:txBody>
      </p:sp>
      <p:sp>
        <p:nvSpPr>
          <p:cNvPr id="5" name="TextBox 4"/>
          <p:cNvSpPr txBox="1"/>
          <p:nvPr/>
        </p:nvSpPr>
        <p:spPr>
          <a:xfrm>
            <a:off x="868680" y="1261872"/>
            <a:ext cx="10332720" cy="5212080"/>
          </a:xfrm>
          <a:prstGeom prst="rect">
            <a:avLst/>
          </a:prstGeom>
          <a:noFill/>
        </p:spPr>
        <p:txBody>
          <a:bodyPr wrap="square">
            <a:spAutoFit/>
          </a:bodyPr>
          <a:lstStyle/>
          <a:p>
            <a:pPr>
              <a:lnSpc>
                <a:spcPct val="125000"/>
              </a:lnSpc>
              <a:spcAft>
                <a:spcPts val="1000"/>
              </a:spcAft>
              <a:defRPr sz="2200">
                <a:solidFill>
                  <a:srgbClr val="23272B"/>
                </a:solidFill>
                <a:latin typeface="Microsoft YaHei"/>
              </a:defRPr>
            </a:pPr>
            <a:r>
              <a:t>• 研究类型：随机对照研究（单中心），总样本 n=100。</a:t>
            </a:r>
          </a:p>
          <a:p>
            <a:pPr>
              <a:lnSpc>
                <a:spcPct val="125000"/>
              </a:lnSpc>
              <a:spcAft>
                <a:spcPts val="1000"/>
              </a:spcAft>
              <a:defRPr sz="2200">
                <a:solidFill>
                  <a:srgbClr val="23272B"/>
                </a:solidFill>
                <a:latin typeface="Microsoft YaHei"/>
              </a:defRPr>
            </a:pPr>
            <a:r>
              <a:t>• 分组：观察组 50 例；对照组 50 例。</a:t>
            </a:r>
          </a:p>
          <a:p>
            <a:pPr>
              <a:lnSpc>
                <a:spcPct val="125000"/>
              </a:lnSpc>
              <a:spcAft>
                <a:spcPts val="1000"/>
              </a:spcAft>
              <a:defRPr sz="2200">
                <a:solidFill>
                  <a:srgbClr val="23272B"/>
                </a:solidFill>
                <a:latin typeface="Microsoft YaHei"/>
              </a:defRPr>
            </a:pPr>
            <a:r>
              <a:t>• 观察指标：IPSS、控尿能力、VAS、SAS/SDS、满意度、依从性。</a:t>
            </a:r>
          </a:p>
        </p:txBody>
      </p:sp>
      <p:sp>
        <p:nvSpPr>
          <p:cNvPr id="6" name="Rounded Rectangle 5"/>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4/12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干预方案：时效性激励护理</a:t>
            </a:r>
          </a:p>
        </p:txBody>
      </p:sp>
      <p:sp>
        <p:nvSpPr>
          <p:cNvPr id="5" name="TextBox 4"/>
          <p:cNvSpPr txBox="1"/>
          <p:nvPr/>
        </p:nvSpPr>
        <p:spPr>
          <a:xfrm>
            <a:off x="868680" y="1261872"/>
            <a:ext cx="10332720" cy="5212080"/>
          </a:xfrm>
          <a:prstGeom prst="rect">
            <a:avLst/>
          </a:prstGeom>
          <a:noFill/>
        </p:spPr>
        <p:txBody>
          <a:bodyPr wrap="square">
            <a:spAutoFit/>
          </a:bodyPr>
          <a:lstStyle/>
          <a:p>
            <a:pPr>
              <a:lnSpc>
                <a:spcPct val="125000"/>
              </a:lnSpc>
              <a:spcAft>
                <a:spcPts val="1000"/>
              </a:spcAft>
              <a:defRPr sz="2200">
                <a:solidFill>
                  <a:srgbClr val="23272B"/>
                </a:solidFill>
                <a:latin typeface="Microsoft YaHei"/>
              </a:defRPr>
            </a:pPr>
            <a:r>
              <a:t>• 对照组：常规围术期护理。</a:t>
            </a:r>
          </a:p>
          <a:p>
            <a:pPr>
              <a:lnSpc>
                <a:spcPct val="125000"/>
              </a:lnSpc>
              <a:spcAft>
                <a:spcPts val="1000"/>
              </a:spcAft>
              <a:defRPr sz="2200">
                <a:solidFill>
                  <a:srgbClr val="23272B"/>
                </a:solidFill>
                <a:latin typeface="Microsoft YaHei"/>
              </a:defRPr>
            </a:pPr>
            <a:r>
              <a:t>• 观察组：常规护理 + 需要激励 + 利益激励 + 情感激励 + 榜样激励。</a:t>
            </a:r>
          </a:p>
          <a:p>
            <a:pPr>
              <a:lnSpc>
                <a:spcPct val="125000"/>
              </a:lnSpc>
              <a:spcAft>
                <a:spcPts val="1000"/>
              </a:spcAft>
              <a:defRPr sz="2200">
                <a:solidFill>
                  <a:srgbClr val="23272B"/>
                </a:solidFill>
                <a:latin typeface="Microsoft YaHei"/>
              </a:defRPr>
            </a:pPr>
            <a:r>
              <a:t>• 关键节点覆盖：术前-术后早期-居家恢复期。</a:t>
            </a:r>
          </a:p>
        </p:txBody>
      </p:sp>
      <p:sp>
        <p:nvSpPr>
          <p:cNvPr id="6" name="Rounded Rectangle 5"/>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5/12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主要结果总览</a:t>
            </a:r>
          </a:p>
        </p:txBody>
      </p:sp>
      <p:sp>
        <p:nvSpPr>
          <p:cNvPr id="5" name="TextBox 4"/>
          <p:cNvSpPr txBox="1"/>
          <p:nvPr/>
        </p:nvSpPr>
        <p:spPr>
          <a:xfrm>
            <a:off x="868680" y="1261872"/>
            <a:ext cx="10332720" cy="5212080"/>
          </a:xfrm>
          <a:prstGeom prst="rect">
            <a:avLst/>
          </a:prstGeom>
          <a:noFill/>
        </p:spPr>
        <p:txBody>
          <a:bodyPr wrap="square">
            <a:spAutoFit/>
          </a:bodyPr>
          <a:lstStyle/>
          <a:p>
            <a:pPr>
              <a:lnSpc>
                <a:spcPct val="125000"/>
              </a:lnSpc>
              <a:spcAft>
                <a:spcPts val="1000"/>
              </a:spcAft>
              <a:defRPr sz="2200">
                <a:solidFill>
                  <a:srgbClr val="23272B"/>
                </a:solidFill>
                <a:latin typeface="Microsoft YaHei"/>
              </a:defRPr>
            </a:pPr>
            <a:r>
              <a:t>• 结果摘要：**术前两组患者IPSS评分、控尿能力、负性心态评分（SAS、SDS）、及VAS评分比较差异均无统计学意义（*P*＞0.05）。术后1个月，观察组IPSS评分和SAS、SDS评分…</a:t>
            </a:r>
          </a:p>
          <a:p>
            <a:pPr>
              <a:lnSpc>
                <a:spcPct val="125000"/>
              </a:lnSpc>
              <a:spcAft>
                <a:spcPts val="1000"/>
              </a:spcAft>
              <a:defRPr sz="2200">
                <a:solidFill>
                  <a:srgbClr val="23272B"/>
                </a:solidFill>
                <a:latin typeface="Microsoft YaHei"/>
              </a:defRPr>
            </a:pPr>
            <a:r>
              <a:t>• 术后1个月：IPSS、SAS、SDS差异显著（文中报道 P&lt;0.001）。</a:t>
            </a:r>
          </a:p>
          <a:p>
            <a:pPr>
              <a:lnSpc>
                <a:spcPct val="125000"/>
              </a:lnSpc>
              <a:spcAft>
                <a:spcPts val="1000"/>
              </a:spcAft>
              <a:defRPr sz="2200">
                <a:solidFill>
                  <a:srgbClr val="23272B"/>
                </a:solidFill>
                <a:latin typeface="Microsoft YaHei"/>
              </a:defRPr>
            </a:pPr>
            <a:r>
              <a:t>• 术后1日/1周：VAS显著下降（文中报道 P&lt;0.001）。</a:t>
            </a:r>
          </a:p>
        </p:txBody>
      </p:sp>
      <p:sp>
        <p:nvSpPr>
          <p:cNvPr id="6" name="Rounded Rectangle 5"/>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6/12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关键数值：疼痛与满意度</a:t>
            </a:r>
          </a:p>
        </p:txBody>
      </p:sp>
      <p:sp>
        <p:nvSpPr>
          <p:cNvPr id="5" name="Rectangle 4"/>
          <p:cNvSpPr/>
          <p:nvPr/>
        </p:nvSpPr>
        <p:spPr>
          <a:xfrm>
            <a:off x="868680" y="1097280"/>
            <a:ext cx="10332720" cy="512064"/>
          </a:xfrm>
          <a:prstGeom prst="rect">
            <a:avLst/>
          </a:prstGeom>
          <a:solidFill>
            <a:srgbClr val="F8FBFE"/>
          </a:solidFill>
          <a:ln w="10160">
            <a:solidFill>
              <a:srgbClr val="CCD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7" y="1170432"/>
            <a:ext cx="10113264" cy="384048"/>
          </a:xfrm>
          <a:prstGeom prst="rect">
            <a:avLst/>
          </a:prstGeom>
          <a:noFill/>
        </p:spPr>
        <p:txBody>
          <a:bodyPr wrap="none">
            <a:spAutoFit/>
          </a:bodyPr>
          <a:lstStyle/>
          <a:p>
            <a:pPr>
              <a:defRPr sz="1450">
                <a:solidFill>
                  <a:srgbClr val="23272B"/>
                </a:solidFill>
                <a:latin typeface="Microsoft YaHei"/>
              </a:defRPr>
            </a:pPr>
            <a:r>
              <a:t>VAS趋势：对照组 5.24→4.77→3.12；观察组 3.15→3.23→1.16。 护理总满意度：对照组 84% vs 观察组 100%。</a:t>
            </a:r>
          </a:p>
        </p:txBody>
      </p:sp>
      <p:graphicFrame>
        <p:nvGraphicFramePr>
          <p:cNvPr id="7" name="Chart 6"/>
          <p:cNvGraphicFramePr>
            <a:graphicFrameLocks noGrp="1"/>
          </p:cNvGraphicFramePr>
          <p:nvPr/>
        </p:nvGraphicFramePr>
        <p:xfrm>
          <a:off x="868680" y="1783080"/>
          <a:ext cx="6720840" cy="420624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7772400" y="1938528"/>
          <a:ext cx="3429000" cy="3931920"/>
        </p:xfrm>
        <a:graphic>
          <a:graphicData uri="http://schemas.openxmlformats.org/drawingml/2006/chart">
            <c:chart xmlns:c="http://schemas.openxmlformats.org/drawingml/2006/chart" r:id="rId3"/>
          </a:graphicData>
        </a:graphic>
      </p:graphicFrame>
      <p:sp>
        <p:nvSpPr>
          <p:cNvPr id="9" name="Rounded Rectangle 8"/>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7/12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依从性与行为改变</a:t>
            </a:r>
          </a:p>
        </p:txBody>
      </p:sp>
      <p:sp>
        <p:nvSpPr>
          <p:cNvPr id="5" name="Rectangle 4"/>
          <p:cNvSpPr/>
          <p:nvPr/>
        </p:nvSpPr>
        <p:spPr>
          <a:xfrm>
            <a:off x="868680" y="1133856"/>
            <a:ext cx="10332720" cy="530352"/>
          </a:xfrm>
          <a:prstGeom prst="rect">
            <a:avLst/>
          </a:prstGeom>
          <a:solidFill>
            <a:srgbClr val="F8FBFE"/>
          </a:solidFill>
          <a:ln w="10160">
            <a:solidFill>
              <a:srgbClr val="CCD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7" y="1207008"/>
            <a:ext cx="10113264" cy="402335"/>
          </a:xfrm>
          <a:prstGeom prst="rect">
            <a:avLst/>
          </a:prstGeom>
          <a:noFill/>
        </p:spPr>
        <p:txBody>
          <a:bodyPr wrap="none">
            <a:spAutoFit/>
          </a:bodyPr>
          <a:lstStyle/>
          <a:p>
            <a:pPr>
              <a:defRPr sz="1450">
                <a:solidFill>
                  <a:srgbClr val="23272B"/>
                </a:solidFill>
                <a:latin typeface="Microsoft YaHei"/>
              </a:defRPr>
            </a:pPr>
            <a:r>
              <a:t>依从性结果：观察组在情绪管理、饮食控制、戒烟戒酒、及时用药、功能锻炼五项得分均高于对照组（P&lt;0.05）。</a:t>
            </a:r>
          </a:p>
        </p:txBody>
      </p:sp>
      <p:graphicFrame>
        <p:nvGraphicFramePr>
          <p:cNvPr id="7" name="Chart 6"/>
          <p:cNvGraphicFramePr>
            <a:graphicFrameLocks noGrp="1"/>
          </p:cNvGraphicFramePr>
          <p:nvPr/>
        </p:nvGraphicFramePr>
        <p:xfrm>
          <a:off x="868680" y="2121408"/>
          <a:ext cx="10332720" cy="3566160"/>
        </p:xfrm>
        <a:graphic>
          <a:graphicData uri="http://schemas.openxmlformats.org/drawingml/2006/chart">
            <c:chart xmlns:c="http://schemas.openxmlformats.org/drawingml/2006/chart" r:id="rId2"/>
          </a:graphicData>
        </a:graphic>
      </p:graphicFrame>
      <p:sp>
        <p:nvSpPr>
          <p:cNvPr id="8" name="Rounded Rectangle 7"/>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8/12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机制解释与临床价值</a:t>
            </a:r>
          </a:p>
        </p:txBody>
      </p:sp>
      <p:sp>
        <p:nvSpPr>
          <p:cNvPr id="5" name="TextBox 4"/>
          <p:cNvSpPr txBox="1"/>
          <p:nvPr/>
        </p:nvSpPr>
        <p:spPr>
          <a:xfrm>
            <a:off x="868680" y="1261872"/>
            <a:ext cx="10332720" cy="5212080"/>
          </a:xfrm>
          <a:prstGeom prst="rect">
            <a:avLst/>
          </a:prstGeom>
          <a:noFill/>
        </p:spPr>
        <p:txBody>
          <a:bodyPr wrap="square">
            <a:spAutoFit/>
          </a:bodyPr>
          <a:lstStyle/>
          <a:p>
            <a:pPr>
              <a:lnSpc>
                <a:spcPct val="125000"/>
              </a:lnSpc>
              <a:spcAft>
                <a:spcPts val="1000"/>
              </a:spcAft>
              <a:defRPr sz="2200">
                <a:solidFill>
                  <a:srgbClr val="23272B"/>
                </a:solidFill>
                <a:latin typeface="Microsoft YaHei"/>
              </a:defRPr>
            </a:pPr>
            <a:r>
              <a:t>• 机制层面：关键时机激励提升患者自我效能与康复参与度。</a:t>
            </a:r>
          </a:p>
          <a:p>
            <a:pPr>
              <a:lnSpc>
                <a:spcPct val="125000"/>
              </a:lnSpc>
              <a:spcAft>
                <a:spcPts val="1000"/>
              </a:spcAft>
              <a:defRPr sz="2200">
                <a:solidFill>
                  <a:srgbClr val="23272B"/>
                </a:solidFill>
                <a:latin typeface="Microsoft YaHei"/>
              </a:defRPr>
            </a:pPr>
            <a:r>
              <a:t>• 护理价值：改善症状 + 缓解负性情绪 + 提升满意度与依从性。</a:t>
            </a:r>
          </a:p>
          <a:p>
            <a:pPr>
              <a:lnSpc>
                <a:spcPct val="125000"/>
              </a:lnSpc>
              <a:spcAft>
                <a:spcPts val="1000"/>
              </a:spcAft>
              <a:defRPr sz="2200">
                <a:solidFill>
                  <a:srgbClr val="23272B"/>
                </a:solidFill>
                <a:latin typeface="Microsoft YaHei"/>
              </a:defRPr>
            </a:pPr>
            <a:r>
              <a:t>• 管理价值：形成标准化、可执行、可评估的护理闭环。</a:t>
            </a:r>
          </a:p>
        </p:txBody>
      </p:sp>
      <p:sp>
        <p:nvSpPr>
          <p:cNvPr id="6" name="Rounded Rectangle 5"/>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9/12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研究局限与改进方向</a:t>
            </a:r>
          </a:p>
        </p:txBody>
      </p:sp>
      <p:sp>
        <p:nvSpPr>
          <p:cNvPr id="5" name="TextBox 4"/>
          <p:cNvSpPr txBox="1"/>
          <p:nvPr/>
        </p:nvSpPr>
        <p:spPr>
          <a:xfrm>
            <a:off x="868680" y="1261872"/>
            <a:ext cx="10332720" cy="5212080"/>
          </a:xfrm>
          <a:prstGeom prst="rect">
            <a:avLst/>
          </a:prstGeom>
          <a:noFill/>
        </p:spPr>
        <p:txBody>
          <a:bodyPr wrap="square">
            <a:spAutoFit/>
          </a:bodyPr>
          <a:lstStyle/>
          <a:p>
            <a:pPr>
              <a:lnSpc>
                <a:spcPct val="125000"/>
              </a:lnSpc>
              <a:spcAft>
                <a:spcPts val="1000"/>
              </a:spcAft>
              <a:defRPr sz="2200">
                <a:solidFill>
                  <a:srgbClr val="23272B"/>
                </a:solidFill>
                <a:latin typeface="Microsoft YaHei"/>
              </a:defRPr>
            </a:pPr>
            <a:r>
              <a:t>• 局限：单中心、样本量中等、随访时间较短。</a:t>
            </a:r>
          </a:p>
          <a:p>
            <a:pPr>
              <a:lnSpc>
                <a:spcPct val="125000"/>
              </a:lnSpc>
              <a:spcAft>
                <a:spcPts val="1000"/>
              </a:spcAft>
              <a:defRPr sz="2200">
                <a:solidFill>
                  <a:srgbClr val="23272B"/>
                </a:solidFill>
                <a:latin typeface="Microsoft YaHei"/>
              </a:defRPr>
            </a:pPr>
            <a:r>
              <a:t>• 后续：多中心扩大样本，延长随访，强化量表与客观指标联动。</a:t>
            </a:r>
          </a:p>
          <a:p>
            <a:pPr>
              <a:lnSpc>
                <a:spcPct val="125000"/>
              </a:lnSpc>
              <a:spcAft>
                <a:spcPts val="1000"/>
              </a:spcAft>
              <a:defRPr sz="2200">
                <a:solidFill>
                  <a:srgbClr val="23272B"/>
                </a:solidFill>
                <a:latin typeface="Microsoft YaHei"/>
              </a:defRPr>
            </a:pPr>
            <a:r>
              <a:t>• 计划：在硕士阶段延展到肿瘤护理与长期症状管理场景。</a:t>
            </a:r>
          </a:p>
        </p:txBody>
      </p:sp>
      <p:sp>
        <p:nvSpPr>
          <p:cNvPr id="6" name="Rounded Rectangle 5"/>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10/12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复试可能提问与应答</a:t>
            </a:r>
          </a:p>
        </p:txBody>
      </p:sp>
      <p:sp>
        <p:nvSpPr>
          <p:cNvPr id="5" name="TextBox 4"/>
          <p:cNvSpPr txBox="1"/>
          <p:nvPr/>
        </p:nvSpPr>
        <p:spPr>
          <a:xfrm>
            <a:off x="868680" y="1261872"/>
            <a:ext cx="10332720" cy="5212080"/>
          </a:xfrm>
          <a:prstGeom prst="rect">
            <a:avLst/>
          </a:prstGeom>
          <a:noFill/>
        </p:spPr>
        <p:txBody>
          <a:bodyPr wrap="square">
            <a:spAutoFit/>
          </a:bodyPr>
          <a:lstStyle/>
          <a:p>
            <a:pPr>
              <a:lnSpc>
                <a:spcPct val="125000"/>
              </a:lnSpc>
              <a:spcAft>
                <a:spcPts val="1000"/>
              </a:spcAft>
              <a:defRPr sz="2200">
                <a:solidFill>
                  <a:srgbClr val="23272B"/>
                </a:solidFill>
                <a:latin typeface="Microsoft YaHei"/>
              </a:defRPr>
            </a:pPr>
            <a:r>
              <a:t>• Q1：为什么选择时效性激励理论？</a:t>
            </a:r>
          </a:p>
          <a:p>
            <a:pPr>
              <a:lnSpc>
                <a:spcPct val="125000"/>
              </a:lnSpc>
              <a:spcAft>
                <a:spcPts val="1000"/>
              </a:spcAft>
              <a:defRPr sz="2200">
                <a:solidFill>
                  <a:srgbClr val="23272B"/>
                </a:solidFill>
                <a:latin typeface="Microsoft YaHei"/>
              </a:defRPr>
            </a:pPr>
            <a:r>
              <a:t>• A1：它直接面向“关键时点行为改变”，契合术后康复需求。</a:t>
            </a:r>
          </a:p>
          <a:p>
            <a:pPr>
              <a:lnSpc>
                <a:spcPct val="125000"/>
              </a:lnSpc>
              <a:spcAft>
                <a:spcPts val="1000"/>
              </a:spcAft>
              <a:defRPr sz="2200">
                <a:solidFill>
                  <a:srgbClr val="23272B"/>
                </a:solidFill>
                <a:latin typeface="Microsoft YaHei"/>
              </a:defRPr>
            </a:pPr>
            <a:r>
              <a:t>• Q2：如何控制偏倚？</a:t>
            </a:r>
          </a:p>
          <a:p>
            <a:pPr>
              <a:lnSpc>
                <a:spcPct val="125000"/>
              </a:lnSpc>
              <a:spcAft>
                <a:spcPts val="1000"/>
              </a:spcAft>
              <a:defRPr sz="2200">
                <a:solidFill>
                  <a:srgbClr val="23272B"/>
                </a:solidFill>
                <a:latin typeface="Microsoft YaHei"/>
              </a:defRPr>
            </a:pPr>
            <a:r>
              <a:t>• A2：随机分组、统一评估时点、量表与客观指标结合。</a:t>
            </a:r>
          </a:p>
          <a:p>
            <a:pPr>
              <a:lnSpc>
                <a:spcPct val="125000"/>
              </a:lnSpc>
              <a:spcAft>
                <a:spcPts val="1000"/>
              </a:spcAft>
              <a:defRPr sz="2200">
                <a:solidFill>
                  <a:srgbClr val="23272B"/>
                </a:solidFill>
                <a:latin typeface="Microsoft YaHei"/>
              </a:defRPr>
            </a:pPr>
            <a:r>
              <a:t>• Q3：如何与未来导师方向衔接？</a:t>
            </a:r>
          </a:p>
          <a:p>
            <a:pPr>
              <a:lnSpc>
                <a:spcPct val="125000"/>
              </a:lnSpc>
              <a:spcAft>
                <a:spcPts val="1000"/>
              </a:spcAft>
              <a:defRPr sz="2200">
                <a:solidFill>
                  <a:srgbClr val="23272B"/>
                </a:solidFill>
                <a:latin typeface="Microsoft YaHei"/>
              </a:defRPr>
            </a:pPr>
            <a:r>
              <a:t>• A3：将该干预框架迁移到肿瘤患者症状管理与心理支持。</a:t>
            </a:r>
          </a:p>
        </p:txBody>
      </p:sp>
      <p:sp>
        <p:nvSpPr>
          <p:cNvPr id="6" name="Rounded Rectangle 5"/>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11/12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30352"/>
          </a:xfrm>
          <a:prstGeom prst="rect">
            <a:avLst/>
          </a:prstGeom>
          <a:solidFill>
            <a:srgbClr val="15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1014984"/>
            <a:ext cx="10991088" cy="12801"/>
          </a:xfrm>
          <a:prstGeom prst="rect">
            <a:avLst/>
          </a:prstGeom>
          <a:solidFill>
            <a:srgbClr val="CCD4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67512"/>
            <a:ext cx="10607040" cy="320040"/>
          </a:xfrm>
          <a:prstGeom prst="rect">
            <a:avLst/>
          </a:prstGeom>
          <a:noFill/>
        </p:spPr>
        <p:txBody>
          <a:bodyPr wrap="none">
            <a:spAutoFit/>
          </a:bodyPr>
          <a:lstStyle/>
          <a:p>
            <a:pPr>
              <a:defRPr sz="2500" b="1">
                <a:solidFill>
                  <a:srgbClr val="152D50"/>
                </a:solidFill>
                <a:latin typeface="Microsoft YaHei"/>
              </a:defRPr>
            </a:pPr>
            <a:r>
              <a:t>结论与致谢</a:t>
            </a:r>
          </a:p>
        </p:txBody>
      </p:sp>
      <p:sp>
        <p:nvSpPr>
          <p:cNvPr id="5" name="TextBox 4"/>
          <p:cNvSpPr txBox="1"/>
          <p:nvPr/>
        </p:nvSpPr>
        <p:spPr>
          <a:xfrm>
            <a:off x="868680" y="1261872"/>
            <a:ext cx="10332720" cy="5212080"/>
          </a:xfrm>
          <a:prstGeom prst="rect">
            <a:avLst/>
          </a:prstGeom>
          <a:noFill/>
        </p:spPr>
        <p:txBody>
          <a:bodyPr wrap="square">
            <a:spAutoFit/>
          </a:bodyPr>
          <a:lstStyle/>
          <a:p>
            <a:pPr>
              <a:lnSpc>
                <a:spcPct val="125000"/>
              </a:lnSpc>
              <a:spcAft>
                <a:spcPts val="1000"/>
              </a:spcAft>
              <a:defRPr sz="2200">
                <a:solidFill>
                  <a:srgbClr val="23272B"/>
                </a:solidFill>
                <a:latin typeface="Microsoft YaHei"/>
              </a:defRPr>
            </a:pPr>
            <a:r>
              <a:t>• 结论：**基于时效性激励理论的护理干预对行经尿道前列腺热蒸汽消融术患者的前列腺症状与焦虑情绪均产生显著改善作用，时效性激励护理在提升患者依从性，改善术后排尿情况及提高护理满意度具有积极…</a:t>
            </a:r>
          </a:p>
          <a:p>
            <a:pPr>
              <a:lnSpc>
                <a:spcPct val="125000"/>
              </a:lnSpc>
              <a:spcAft>
                <a:spcPts val="1000"/>
              </a:spcAft>
              <a:defRPr sz="2200">
                <a:solidFill>
                  <a:srgbClr val="23272B"/>
                </a:solidFill>
                <a:latin typeface="Microsoft YaHei"/>
              </a:defRPr>
            </a:pPr>
            <a:r>
              <a:t>• 核心贡献：提出可执行的术后激励护理路径。</a:t>
            </a:r>
          </a:p>
          <a:p>
            <a:pPr>
              <a:lnSpc>
                <a:spcPct val="125000"/>
              </a:lnSpc>
              <a:spcAft>
                <a:spcPts val="1000"/>
              </a:spcAft>
              <a:defRPr sz="2200">
                <a:solidFill>
                  <a:srgbClr val="23272B"/>
                </a:solidFill>
                <a:latin typeface="Microsoft YaHei"/>
              </a:defRPr>
            </a:pPr>
            <a:r>
              <a:t>• 感谢各位老师指正。</a:t>
            </a:r>
          </a:p>
        </p:txBody>
      </p:sp>
      <p:sp>
        <p:nvSpPr>
          <p:cNvPr id="6" name="Rounded Rectangle 5"/>
          <p:cNvSpPr/>
          <p:nvPr/>
        </p:nvSpPr>
        <p:spPr>
          <a:xfrm>
            <a:off x="11082528" y="6327648"/>
            <a:ext cx="1024128" cy="292608"/>
          </a:xfrm>
          <a:prstGeom prst="round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5B6E87"/>
                </a:solidFill>
                <a:latin typeface="Times New Roman"/>
              </a:defRPr>
            </a:pPr>
            <a:r>
              <a:t>12/12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